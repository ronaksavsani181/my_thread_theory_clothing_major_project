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4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B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4155"/>
    <a:srgbClr val="2447A8"/>
    <a:srgbClr val="1E3A8A"/>
    <a:srgbClr val="456BD7"/>
    <a:srgbClr val="F2EEE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7" autoAdjust="0"/>
    <p:restoredTop sz="93557" autoAdjust="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84BFF-4418-BED6-E741-D7BF03412D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A9BEC6-B07C-D1C9-13EF-7EF0DC82E8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E9D813-7A4C-30FC-5CEE-983330C0B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A1A16-56FF-4682-931D-14451B7C6F09}" type="datetimeFigureOut">
              <a:rPr lang="en-BS" smtClean="0"/>
              <a:t>31/03/2026</a:t>
            </a:fld>
            <a:endParaRPr lang="en-B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364214-F09D-B5A1-7774-7618EBBE9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ABCA2F-9DC1-9FC4-F929-C291ECD6B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039-7BF3-48E7-81E0-1638CD054F1C}" type="slidenum">
              <a:rPr lang="en-BS" smtClean="0"/>
              <a:t>‹#›</a:t>
            </a:fld>
            <a:endParaRPr lang="en-BS"/>
          </a:p>
        </p:txBody>
      </p:sp>
    </p:spTree>
    <p:extLst>
      <p:ext uri="{BB962C8B-B14F-4D97-AF65-F5344CB8AC3E}">
        <p14:creationId xmlns:p14="http://schemas.microsoft.com/office/powerpoint/2010/main" val="1563269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257A7-28AF-5577-1FED-013799087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CC217-D1C8-16F3-29DF-D7408C87F5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1442FC-9FFA-06BD-2D19-0361E7B1A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A1A16-56FF-4682-931D-14451B7C6F09}" type="datetimeFigureOut">
              <a:rPr lang="en-BS" smtClean="0"/>
              <a:t>31/03/2026</a:t>
            </a:fld>
            <a:endParaRPr lang="en-B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5124D-6E64-5A8B-7C47-E855124F3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64E011-8162-1F1A-B957-B74D0EE64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039-7BF3-48E7-81E0-1638CD054F1C}" type="slidenum">
              <a:rPr lang="en-BS" smtClean="0"/>
              <a:t>‹#›</a:t>
            </a:fld>
            <a:endParaRPr lang="en-BS"/>
          </a:p>
        </p:txBody>
      </p:sp>
    </p:spTree>
    <p:extLst>
      <p:ext uri="{BB962C8B-B14F-4D97-AF65-F5344CB8AC3E}">
        <p14:creationId xmlns:p14="http://schemas.microsoft.com/office/powerpoint/2010/main" val="3583552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F02EF-B612-56F7-DE06-6C08692C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07530C-59B3-34C4-F7BC-DE11B7CDBD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722319-D337-530D-6440-C842FEE9C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A1A16-56FF-4682-931D-14451B7C6F09}" type="datetimeFigureOut">
              <a:rPr lang="en-BS" smtClean="0"/>
              <a:t>31/03/2026</a:t>
            </a:fld>
            <a:endParaRPr lang="en-B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8EABC-9A77-5AD6-ECDC-C7E947950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99974-044D-92E0-8BF8-B294B9920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039-7BF3-48E7-81E0-1638CD054F1C}" type="slidenum">
              <a:rPr lang="en-BS" smtClean="0"/>
              <a:t>‹#›</a:t>
            </a:fld>
            <a:endParaRPr lang="en-BS"/>
          </a:p>
        </p:txBody>
      </p:sp>
    </p:spTree>
    <p:extLst>
      <p:ext uri="{BB962C8B-B14F-4D97-AF65-F5344CB8AC3E}">
        <p14:creationId xmlns:p14="http://schemas.microsoft.com/office/powerpoint/2010/main" val="2969468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8B0C6-AC98-464F-7A29-F5E97F50C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9253F-43DE-E3B4-4F7E-4430150B8D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E35D1D-909E-E0F5-20FC-16D5704DB1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929231-3DC4-70B6-A42E-C200DED47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A1A16-56FF-4682-931D-14451B7C6F09}" type="datetimeFigureOut">
              <a:rPr lang="en-BS" smtClean="0"/>
              <a:t>31/03/2026</a:t>
            </a:fld>
            <a:endParaRPr lang="en-B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E37ADB-1DBE-3406-72BE-9D5FD92E3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2107BD-6766-A2B9-E541-FDFB4A9CE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039-7BF3-48E7-81E0-1638CD054F1C}" type="slidenum">
              <a:rPr lang="en-BS" smtClean="0"/>
              <a:t>‹#›</a:t>
            </a:fld>
            <a:endParaRPr lang="en-BS"/>
          </a:p>
        </p:txBody>
      </p:sp>
    </p:spTree>
    <p:extLst>
      <p:ext uri="{BB962C8B-B14F-4D97-AF65-F5344CB8AC3E}">
        <p14:creationId xmlns:p14="http://schemas.microsoft.com/office/powerpoint/2010/main" val="575992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AC812-BD9C-F0D9-B600-0154E947F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E1345B-A0D8-E18B-946D-E6F3BC46B5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DB65D6-9B5B-7169-B92F-FA093E30D0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ADFF46-601B-3E9D-B25A-6B4D785DDC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6EB300-E98A-5D2C-44EE-E6842CD4E8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91D05A-F5B8-091C-260C-10A3C89DA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A1A16-56FF-4682-931D-14451B7C6F09}" type="datetimeFigureOut">
              <a:rPr lang="en-BS" smtClean="0"/>
              <a:t>31/03/2026</a:t>
            </a:fld>
            <a:endParaRPr lang="en-B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5556B4-1CBA-4559-6969-967AE627C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108B4A-6686-5532-8944-F156820D3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039-7BF3-48E7-81E0-1638CD054F1C}" type="slidenum">
              <a:rPr lang="en-BS" smtClean="0"/>
              <a:t>‹#›</a:t>
            </a:fld>
            <a:endParaRPr lang="en-BS"/>
          </a:p>
        </p:txBody>
      </p:sp>
    </p:spTree>
    <p:extLst>
      <p:ext uri="{BB962C8B-B14F-4D97-AF65-F5344CB8AC3E}">
        <p14:creationId xmlns:p14="http://schemas.microsoft.com/office/powerpoint/2010/main" val="138448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890FC-AA4D-AE70-811A-DF991AE1C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25B743-492A-FC57-4E49-299BEFF89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A1A16-56FF-4682-931D-14451B7C6F09}" type="datetimeFigureOut">
              <a:rPr lang="en-BS" smtClean="0"/>
              <a:t>31/03/2026</a:t>
            </a:fld>
            <a:endParaRPr lang="en-B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87ABFE-37E7-AD52-40A3-2E1DA7748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882977-FF4F-294F-A856-A2D6F8BE3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039-7BF3-48E7-81E0-1638CD054F1C}" type="slidenum">
              <a:rPr lang="en-BS" smtClean="0"/>
              <a:t>‹#›</a:t>
            </a:fld>
            <a:endParaRPr lang="en-BS"/>
          </a:p>
        </p:txBody>
      </p:sp>
    </p:spTree>
    <p:extLst>
      <p:ext uri="{BB962C8B-B14F-4D97-AF65-F5344CB8AC3E}">
        <p14:creationId xmlns:p14="http://schemas.microsoft.com/office/powerpoint/2010/main" val="429361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0CDB77-3278-8343-9371-80D9660D3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A1A16-56FF-4682-931D-14451B7C6F09}" type="datetimeFigureOut">
              <a:rPr lang="en-BS" smtClean="0"/>
              <a:t>31/03/2026</a:t>
            </a:fld>
            <a:endParaRPr lang="en-B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A941C5-1D82-69EC-EA22-B27648C10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A5C602-1619-F3CB-27A1-C109086A8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039-7BF3-48E7-81E0-1638CD054F1C}" type="slidenum">
              <a:rPr lang="en-BS" smtClean="0"/>
              <a:t>‹#›</a:t>
            </a:fld>
            <a:endParaRPr lang="en-BS"/>
          </a:p>
        </p:txBody>
      </p:sp>
    </p:spTree>
    <p:extLst>
      <p:ext uri="{BB962C8B-B14F-4D97-AF65-F5344CB8AC3E}">
        <p14:creationId xmlns:p14="http://schemas.microsoft.com/office/powerpoint/2010/main" val="1798519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D9CBD-138A-BC36-0CB1-BD8C56AE5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23BAEA-3FE6-7C02-B710-4122B6C78C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1BA645-0879-8670-4025-146D5AB16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91C61B-E1F7-4EB7-EC52-837E27A8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A1A16-56FF-4682-931D-14451B7C6F09}" type="datetimeFigureOut">
              <a:rPr lang="en-BS" smtClean="0"/>
              <a:t>31/03/2026</a:t>
            </a:fld>
            <a:endParaRPr lang="en-B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FD63D3-0CEB-415F-578A-FA6F3F9E5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C05DC7-B4AE-3AC3-21D3-05ADDEFB1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039-7BF3-48E7-81E0-1638CD054F1C}" type="slidenum">
              <a:rPr lang="en-BS" smtClean="0"/>
              <a:t>‹#›</a:t>
            </a:fld>
            <a:endParaRPr lang="en-BS"/>
          </a:p>
        </p:txBody>
      </p:sp>
    </p:spTree>
    <p:extLst>
      <p:ext uri="{BB962C8B-B14F-4D97-AF65-F5344CB8AC3E}">
        <p14:creationId xmlns:p14="http://schemas.microsoft.com/office/powerpoint/2010/main" val="4184206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50502-BD11-D639-0669-FC13F089F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C9F374-73B9-4A78-30A7-A1A3DB278E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40B93B-2FD7-37AF-778A-F9C7B813BE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C5934A-F162-5C1C-7E2D-FF45DF7F1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A1A16-56FF-4682-931D-14451B7C6F09}" type="datetimeFigureOut">
              <a:rPr lang="en-BS" smtClean="0"/>
              <a:t>31/03/2026</a:t>
            </a:fld>
            <a:endParaRPr lang="en-B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51CE93-2024-2BD7-747D-687161AFF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722EC7-6CB6-DBBA-00A4-58E1AC306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039-7BF3-48E7-81E0-1638CD054F1C}" type="slidenum">
              <a:rPr lang="en-BS" smtClean="0"/>
              <a:t>‹#›</a:t>
            </a:fld>
            <a:endParaRPr lang="en-BS"/>
          </a:p>
        </p:txBody>
      </p:sp>
    </p:spTree>
    <p:extLst>
      <p:ext uri="{BB962C8B-B14F-4D97-AF65-F5344CB8AC3E}">
        <p14:creationId xmlns:p14="http://schemas.microsoft.com/office/powerpoint/2010/main" val="1197311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A952E-B1AC-8C7E-98ED-4D0021F6E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CE6BC0-0363-EB87-9CC2-E41AC0D1F5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6563CB-E5FF-3F60-BC35-D259F2419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A1A16-56FF-4682-931D-14451B7C6F09}" type="datetimeFigureOut">
              <a:rPr lang="en-BS" smtClean="0"/>
              <a:t>31/03/2026</a:t>
            </a:fld>
            <a:endParaRPr lang="en-B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FCF93-FF29-A704-3E5C-4DB1ADB8E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25497-B919-0BF1-6634-2AD7814FE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039-7BF3-48E7-81E0-1638CD054F1C}" type="slidenum">
              <a:rPr lang="en-BS" smtClean="0"/>
              <a:t>‹#›</a:t>
            </a:fld>
            <a:endParaRPr lang="en-BS"/>
          </a:p>
        </p:txBody>
      </p:sp>
    </p:spTree>
    <p:extLst>
      <p:ext uri="{BB962C8B-B14F-4D97-AF65-F5344CB8AC3E}">
        <p14:creationId xmlns:p14="http://schemas.microsoft.com/office/powerpoint/2010/main" val="4035089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ED2E72-A182-676C-D05F-8ADBAE0927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5CF477-154B-0E8A-FD22-1D7BB77C2B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030876-7E83-2748-1B2D-EE74CE8BD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A1A16-56FF-4682-931D-14451B7C6F09}" type="datetimeFigureOut">
              <a:rPr lang="en-BS" smtClean="0"/>
              <a:t>31/03/2026</a:t>
            </a:fld>
            <a:endParaRPr lang="en-B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AAFB7B-3B5C-536C-E165-3C3C5D6C6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7E605-CA07-72D5-07F9-4DEFDF872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039-7BF3-48E7-81E0-1638CD054F1C}" type="slidenum">
              <a:rPr lang="en-BS" smtClean="0"/>
              <a:t>‹#›</a:t>
            </a:fld>
            <a:endParaRPr lang="en-BS"/>
          </a:p>
        </p:txBody>
      </p:sp>
    </p:spTree>
    <p:extLst>
      <p:ext uri="{BB962C8B-B14F-4D97-AF65-F5344CB8AC3E}">
        <p14:creationId xmlns:p14="http://schemas.microsoft.com/office/powerpoint/2010/main" val="89268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0A181B-E21F-CA6B-EEC9-89B737ED4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4FA1A-D207-D776-9E8F-F1095CA48D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ACDC3E-1E81-6CB3-C6D0-D8086E13CB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DA1A16-56FF-4682-931D-14451B7C6F09}" type="datetimeFigureOut">
              <a:rPr lang="en-BS" smtClean="0"/>
              <a:t>31/03/2026</a:t>
            </a:fld>
            <a:endParaRPr lang="en-B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13E10-E0AF-6980-E841-F7E6FE02E5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2E333-AE89-BBEB-EA27-50F989B405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134039-7BF3-48E7-81E0-1638CD054F1C}" type="slidenum">
              <a:rPr lang="en-BS" smtClean="0"/>
              <a:t>‹#›</a:t>
            </a:fld>
            <a:endParaRPr lang="en-BS"/>
          </a:p>
        </p:txBody>
      </p:sp>
    </p:spTree>
    <p:extLst>
      <p:ext uri="{BB962C8B-B14F-4D97-AF65-F5344CB8AC3E}">
        <p14:creationId xmlns:p14="http://schemas.microsoft.com/office/powerpoint/2010/main" val="4204073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svg"/><Relationship Id="rId7" Type="http://schemas.openxmlformats.org/officeDocument/2006/relationships/image" Target="../media/image33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svg"/><Relationship Id="rId4" Type="http://schemas.openxmlformats.org/officeDocument/2006/relationships/image" Target="../media/image30.png"/><Relationship Id="rId9" Type="http://schemas.openxmlformats.org/officeDocument/2006/relationships/image" Target="../media/image35.sv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6160A74-E865-0B1E-43EA-D194992334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3563" y="77840"/>
            <a:ext cx="3554819" cy="886328"/>
          </a:xfrm>
          <a:prstGeom prst="rect">
            <a:avLst/>
          </a:prstGeom>
        </p:spPr>
      </p:pic>
      <p:sp>
        <p:nvSpPr>
          <p:cNvPr id="6" name="Google Shape;86;p13">
            <a:extLst>
              <a:ext uri="{FF2B5EF4-FFF2-40B4-BE49-F238E27FC236}">
                <a16:creationId xmlns:a16="http://schemas.microsoft.com/office/drawing/2014/main" id="{A8F86778-7A9C-E9D9-4C42-66D4AD2DEDF0}"/>
              </a:ext>
            </a:extLst>
          </p:cNvPr>
          <p:cNvSpPr txBox="1"/>
          <p:nvPr/>
        </p:nvSpPr>
        <p:spPr>
          <a:xfrm>
            <a:off x="5631995" y="1154668"/>
            <a:ext cx="6137954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>
                <a:solidFill>
                  <a:srgbClr val="1E3A8A"/>
                </a:solidFill>
                <a:latin typeface="Times New Roman"/>
                <a:cs typeface="Times New Roman"/>
                <a:sym typeface="Times New Roman"/>
              </a:rPr>
              <a:t>Thread Theory</a:t>
            </a:r>
            <a:endParaRPr dirty="0"/>
          </a:p>
        </p:txBody>
      </p:sp>
      <p:sp>
        <p:nvSpPr>
          <p:cNvPr id="7" name="Google Shape;87;p13">
            <a:extLst>
              <a:ext uri="{FF2B5EF4-FFF2-40B4-BE49-F238E27FC236}">
                <a16:creationId xmlns:a16="http://schemas.microsoft.com/office/drawing/2014/main" id="{6E387862-2137-81C8-FDB7-DECC1411612B}"/>
              </a:ext>
            </a:extLst>
          </p:cNvPr>
          <p:cNvSpPr txBox="1"/>
          <p:nvPr/>
        </p:nvSpPr>
        <p:spPr>
          <a:xfrm>
            <a:off x="5778136" y="2288664"/>
            <a:ext cx="5845671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E-Commerce Website of </a:t>
            </a:r>
            <a:r>
              <a:rPr lang="en-US" b="1" dirty="0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Clothing</a:t>
            </a:r>
            <a:endParaRPr dirty="0"/>
          </a:p>
        </p:txBody>
      </p:sp>
      <p:sp>
        <p:nvSpPr>
          <p:cNvPr id="8" name="Google Shape;90;p13">
            <a:extLst>
              <a:ext uri="{FF2B5EF4-FFF2-40B4-BE49-F238E27FC236}">
                <a16:creationId xmlns:a16="http://schemas.microsoft.com/office/drawing/2014/main" id="{A225864D-E25B-2C35-42C3-9BC379C51BE4}"/>
              </a:ext>
            </a:extLst>
          </p:cNvPr>
          <p:cNvSpPr txBox="1"/>
          <p:nvPr/>
        </p:nvSpPr>
        <p:spPr>
          <a:xfrm>
            <a:off x="5778135" y="4124161"/>
            <a:ext cx="5845671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Presented By: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Bhingradia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Fenil (6756) | Savsani Ronak (7191) | Avaiya Nand (6730)</a:t>
            </a:r>
            <a:endParaRPr dirty="0"/>
          </a:p>
        </p:txBody>
      </p:sp>
      <p:sp>
        <p:nvSpPr>
          <p:cNvPr id="9" name="Google Shape;91;p13">
            <a:extLst>
              <a:ext uri="{FF2B5EF4-FFF2-40B4-BE49-F238E27FC236}">
                <a16:creationId xmlns:a16="http://schemas.microsoft.com/office/drawing/2014/main" id="{3F2FDD9F-0CFF-09F2-3B7E-4887195D88EC}"/>
              </a:ext>
            </a:extLst>
          </p:cNvPr>
          <p:cNvSpPr txBox="1"/>
          <p:nvPr/>
        </p:nvSpPr>
        <p:spPr>
          <a:xfrm>
            <a:off x="5778134" y="5383909"/>
            <a:ext cx="5845671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Guided By:</a:t>
            </a:r>
            <a:r>
              <a:rPr lang="en-US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Mr. Smit Parekh</a:t>
            </a:r>
            <a:endParaRPr sz="2400" dirty="0"/>
          </a:p>
        </p:txBody>
      </p:sp>
      <p:sp>
        <p:nvSpPr>
          <p:cNvPr id="10" name="Google Shape;92;p13">
            <a:extLst>
              <a:ext uri="{FF2B5EF4-FFF2-40B4-BE49-F238E27FC236}">
                <a16:creationId xmlns:a16="http://schemas.microsoft.com/office/drawing/2014/main" id="{FEA86CDB-49F6-BCA6-395F-C12773F837CC}"/>
              </a:ext>
            </a:extLst>
          </p:cNvPr>
          <p:cNvSpPr txBox="1"/>
          <p:nvPr/>
        </p:nvSpPr>
        <p:spPr>
          <a:xfrm>
            <a:off x="5778135" y="5827119"/>
            <a:ext cx="5845671" cy="288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BCA Sem VI | A.Y. 2025-26</a:t>
            </a:r>
            <a:endParaRPr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59BA6A-A6D3-0D52-5430-738A0E32278C}"/>
              </a:ext>
            </a:extLst>
          </p:cNvPr>
          <p:cNvSpPr/>
          <p:nvPr/>
        </p:nvSpPr>
        <p:spPr>
          <a:xfrm>
            <a:off x="0" y="0"/>
            <a:ext cx="5039833" cy="68580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9332BE-2A46-E332-9251-A2A7EA79080A}"/>
              </a:ext>
            </a:extLst>
          </p:cNvPr>
          <p:cNvSpPr txBox="1"/>
          <p:nvPr/>
        </p:nvSpPr>
        <p:spPr>
          <a:xfrm>
            <a:off x="5952601" y="3014580"/>
            <a:ext cx="5496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SDJ International College,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</a:rPr>
              <a:t>Vesu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  <a:p>
            <a:pPr algn="ctr"/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Affiliated To: Veer Narmad South Gujarat University</a:t>
            </a:r>
            <a:endParaRPr lang="en-BS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56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67BDE-1ACE-A750-BF8E-A7183D8A9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856" y="282260"/>
            <a:ext cx="10515600" cy="797553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US" sz="4000" b="1" dirty="0">
                <a:solidFill>
                  <a:srgbClr val="1E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Thread Theory?</a:t>
            </a:r>
          </a:p>
        </p:txBody>
      </p:sp>
      <p:sp>
        <p:nvSpPr>
          <p:cNvPr id="5" name="Google Shape;111;p14">
            <a:extLst>
              <a:ext uri="{FF2B5EF4-FFF2-40B4-BE49-F238E27FC236}">
                <a16:creationId xmlns:a16="http://schemas.microsoft.com/office/drawing/2014/main" id="{CCC855DC-DEE2-5FF8-97BB-E91A6C128A22}"/>
              </a:ext>
            </a:extLst>
          </p:cNvPr>
          <p:cNvSpPr/>
          <p:nvPr/>
        </p:nvSpPr>
        <p:spPr>
          <a:xfrm>
            <a:off x="571500" y="1051238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DFED61-4F3D-606A-FBB4-E3EEE94ACE69}"/>
              </a:ext>
            </a:extLst>
          </p:cNvPr>
          <p:cNvSpPr txBox="1"/>
          <p:nvPr/>
        </p:nvSpPr>
        <p:spPr>
          <a:xfrm>
            <a:off x="680484" y="1175792"/>
            <a:ext cx="10781414" cy="96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An innovative, cutting-edge e-commerce platform designed to redefine the online fashion retail experience by bridging the gap between physical retail and </a:t>
            </a:r>
            <a:r>
              <a:rPr lang="en-US" sz="2000" dirty="0">
                <a:solidFill>
                  <a:srgbClr val="334155"/>
                </a:solidFill>
              </a:rPr>
              <a:t>digital</a:t>
            </a:r>
            <a:r>
              <a:rPr lang="en-US" sz="2000" dirty="0"/>
              <a:t> convenience.</a:t>
            </a:r>
            <a:endParaRPr lang="en-B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5A6E3C-7F6F-18EE-573E-A785D3E27F4C}"/>
              </a:ext>
            </a:extLst>
          </p:cNvPr>
          <p:cNvSpPr txBox="1"/>
          <p:nvPr/>
        </p:nvSpPr>
        <p:spPr>
          <a:xfrm>
            <a:off x="653539" y="2197347"/>
            <a:ext cx="10940016" cy="2352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rgbClr val="1E3A8A"/>
                </a:solidFill>
              </a:rPr>
              <a:t>Key Innovation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 </a:t>
            </a:r>
            <a:r>
              <a:rPr lang="en-US" sz="2000" dirty="0">
                <a:solidFill>
                  <a:srgbClr val="334155"/>
                </a:solidFill>
              </a:rPr>
              <a:t>An advanced 3D Virtual Try-On system that leverages computer vision and 3D rendering. By utilizing real-time spatial body tracking via the user's camera, customers can virtually "wear" dynamic 3D clothing models (.</a:t>
            </a:r>
            <a:r>
              <a:rPr lang="en-US" sz="2000" dirty="0" err="1">
                <a:solidFill>
                  <a:srgbClr val="334155"/>
                </a:solidFill>
              </a:rPr>
              <a:t>glb</a:t>
            </a:r>
            <a:r>
              <a:rPr lang="en-US" sz="2000" dirty="0">
                <a:solidFill>
                  <a:srgbClr val="334155"/>
                </a:solidFill>
              </a:rPr>
              <a:t> format) , providing an immersive shopping journey that boosts buyer confidence and reduces return rates.</a:t>
            </a:r>
            <a:endParaRPr lang="en-BS" dirty="0">
              <a:solidFill>
                <a:srgbClr val="334155"/>
              </a:solidFill>
            </a:endParaRPr>
          </a:p>
        </p:txBody>
      </p:sp>
      <p:sp>
        <p:nvSpPr>
          <p:cNvPr id="21" name="Shape 5">
            <a:extLst>
              <a:ext uri="{FF2B5EF4-FFF2-40B4-BE49-F238E27FC236}">
                <a16:creationId xmlns:a16="http://schemas.microsoft.com/office/drawing/2014/main" id="{F933D1A3-7BCA-BA10-61D5-BEF3E5E4D7C7}"/>
              </a:ext>
            </a:extLst>
          </p:cNvPr>
          <p:cNvSpPr/>
          <p:nvPr/>
        </p:nvSpPr>
        <p:spPr>
          <a:xfrm>
            <a:off x="680484" y="4603898"/>
            <a:ext cx="3282304" cy="1711365"/>
          </a:xfrm>
          <a:prstGeom prst="roundRect">
            <a:avLst>
              <a:gd name="adj" fmla="val 2192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BS"/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A7053079-878F-76E9-5728-93F56F64CFBD}"/>
              </a:ext>
            </a:extLst>
          </p:cNvPr>
          <p:cNvSpPr/>
          <p:nvPr/>
        </p:nvSpPr>
        <p:spPr>
          <a:xfrm>
            <a:off x="853958" y="4874051"/>
            <a:ext cx="1824236" cy="270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B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100"/>
              </a:lnSpc>
              <a:buNone/>
            </a:pPr>
            <a:r>
              <a:rPr lang="en-US" sz="20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Technology Stack</a:t>
            </a:r>
            <a:endParaRPr lang="en-US" sz="2000" dirty="0"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7AB082A2-4FD9-244A-5C2D-8FBFB2BEE701}"/>
              </a:ext>
            </a:extLst>
          </p:cNvPr>
          <p:cNvSpPr/>
          <p:nvPr/>
        </p:nvSpPr>
        <p:spPr>
          <a:xfrm>
            <a:off x="853958" y="5327520"/>
            <a:ext cx="2990450" cy="489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B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9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MERN Stack (MongoDB, Express.js, React, Node.js) with WebGL for 3D rendering</a:t>
            </a:r>
            <a:endParaRPr lang="en-US" sz="1600" dirty="0"/>
          </a:p>
        </p:txBody>
      </p:sp>
      <p:sp>
        <p:nvSpPr>
          <p:cNvPr id="24" name="Shape 8">
            <a:extLst>
              <a:ext uri="{FF2B5EF4-FFF2-40B4-BE49-F238E27FC236}">
                <a16:creationId xmlns:a16="http://schemas.microsoft.com/office/drawing/2014/main" id="{44A86CD6-6719-42EB-C7A9-001828F2C7A6}"/>
              </a:ext>
            </a:extLst>
          </p:cNvPr>
          <p:cNvSpPr/>
          <p:nvPr/>
        </p:nvSpPr>
        <p:spPr>
          <a:xfrm>
            <a:off x="4454848" y="4603899"/>
            <a:ext cx="3282304" cy="1711366"/>
          </a:xfrm>
          <a:prstGeom prst="roundRect">
            <a:avLst>
              <a:gd name="adj" fmla="val 2192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BS"/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1BC5538B-A17F-7BA3-5D20-F3B9AEDD14E0}"/>
              </a:ext>
            </a:extLst>
          </p:cNvPr>
          <p:cNvSpPr/>
          <p:nvPr/>
        </p:nvSpPr>
        <p:spPr>
          <a:xfrm>
            <a:off x="4628322" y="4874659"/>
            <a:ext cx="1824236" cy="270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B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100"/>
              </a:lnSpc>
              <a:buNone/>
            </a:pPr>
            <a:r>
              <a:rPr lang="en-US" sz="20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Target Audience</a:t>
            </a:r>
            <a:endParaRPr lang="en-US" sz="2000" dirty="0"/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7C933CD4-15B8-BF09-1391-05D5FBF67495}"/>
              </a:ext>
            </a:extLst>
          </p:cNvPr>
          <p:cNvSpPr/>
          <p:nvPr/>
        </p:nvSpPr>
        <p:spPr>
          <a:xfrm>
            <a:off x="4628322" y="5327520"/>
            <a:ext cx="2990450" cy="489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B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9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Fashion-conscious shoppers seeking confidence in online purchases</a:t>
            </a:r>
            <a:endParaRPr lang="en-US" sz="1600" dirty="0"/>
          </a:p>
        </p:txBody>
      </p:sp>
      <p:sp>
        <p:nvSpPr>
          <p:cNvPr id="27" name="Shape 11">
            <a:extLst>
              <a:ext uri="{FF2B5EF4-FFF2-40B4-BE49-F238E27FC236}">
                <a16:creationId xmlns:a16="http://schemas.microsoft.com/office/drawing/2014/main" id="{15320A48-9D07-19B9-2875-4A3E146A4CAC}"/>
              </a:ext>
            </a:extLst>
          </p:cNvPr>
          <p:cNvSpPr/>
          <p:nvPr/>
        </p:nvSpPr>
        <p:spPr>
          <a:xfrm>
            <a:off x="8229212" y="4603898"/>
            <a:ext cx="3282304" cy="1711366"/>
          </a:xfrm>
          <a:prstGeom prst="roundRect">
            <a:avLst>
              <a:gd name="adj" fmla="val 2192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BS"/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45E47B97-2C85-CE11-185D-B5236BB94595}"/>
              </a:ext>
            </a:extLst>
          </p:cNvPr>
          <p:cNvSpPr/>
          <p:nvPr/>
        </p:nvSpPr>
        <p:spPr>
          <a:xfrm>
            <a:off x="8402686" y="4874051"/>
            <a:ext cx="1824236" cy="270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B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100"/>
              </a:lnSpc>
              <a:buNone/>
            </a:pPr>
            <a:r>
              <a:rPr lang="en-US" sz="20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Primary Goal</a:t>
            </a:r>
            <a:endParaRPr lang="en-US" sz="2000" dirty="0"/>
          </a:p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2A75C681-579C-E1F3-BE00-430CF623DAC0}"/>
              </a:ext>
            </a:extLst>
          </p:cNvPr>
          <p:cNvSpPr/>
          <p:nvPr/>
        </p:nvSpPr>
        <p:spPr>
          <a:xfrm>
            <a:off x="8402686" y="5328128"/>
            <a:ext cx="2990450" cy="489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B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9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Reduce return rates by enabling accurate virtual product visualization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171867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1FE78B00-977C-CD17-D53F-0C480CE9B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345" y="1444921"/>
            <a:ext cx="5041829" cy="603556"/>
          </a:xfrm>
          <a:prstGeom prst="rect">
            <a:avLst/>
          </a:prstGeom>
        </p:spPr>
      </p:pic>
      <p:sp>
        <p:nvSpPr>
          <p:cNvPr id="4" name="Shape 1">
            <a:extLst>
              <a:ext uri="{FF2B5EF4-FFF2-40B4-BE49-F238E27FC236}">
                <a16:creationId xmlns:a16="http://schemas.microsoft.com/office/drawing/2014/main" id="{13CEC540-4960-C35E-63E8-02FF1A65D404}"/>
              </a:ext>
            </a:extLst>
          </p:cNvPr>
          <p:cNvSpPr/>
          <p:nvPr/>
        </p:nvSpPr>
        <p:spPr>
          <a:xfrm>
            <a:off x="781499" y="2174949"/>
            <a:ext cx="5038780" cy="2057425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BS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E5AEA62E-C200-D954-1296-3E65B4E343A5}"/>
              </a:ext>
            </a:extLst>
          </p:cNvPr>
          <p:cNvSpPr/>
          <p:nvPr/>
        </p:nvSpPr>
        <p:spPr>
          <a:xfrm>
            <a:off x="874689" y="2253692"/>
            <a:ext cx="2778164" cy="419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B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Virtual Try-On Integration</a:t>
            </a:r>
            <a:endParaRPr lang="en-US" sz="22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65535DE0-A452-333D-68DB-B6089270657A}"/>
              </a:ext>
            </a:extLst>
          </p:cNvPr>
          <p:cNvSpPr/>
          <p:nvPr/>
        </p:nvSpPr>
        <p:spPr>
          <a:xfrm>
            <a:off x="874688" y="2609173"/>
            <a:ext cx="4634143" cy="1288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B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Develop real-time 3D clothing visualization system using WebGL and Three.js libraries for interactive garment rendering</a:t>
            </a:r>
            <a:endParaRPr lang="en-US" sz="175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B8F693B5-B643-607C-F654-41B83C5DEB29}"/>
              </a:ext>
            </a:extLst>
          </p:cNvPr>
          <p:cNvSpPr/>
          <p:nvPr/>
        </p:nvSpPr>
        <p:spPr>
          <a:xfrm>
            <a:off x="6569681" y="2053008"/>
            <a:ext cx="5038874" cy="2134963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BS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75BC5FB4-D461-800F-DCCF-F99217C1BF3A}"/>
              </a:ext>
            </a:extLst>
          </p:cNvPr>
          <p:cNvSpPr/>
          <p:nvPr/>
        </p:nvSpPr>
        <p:spPr>
          <a:xfrm>
            <a:off x="6811622" y="2189737"/>
            <a:ext cx="2508998" cy="419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B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User-Friendly Interface</a:t>
            </a:r>
            <a:endParaRPr lang="en-US" sz="22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9A0E0633-9558-ADFD-9C8C-9D439CE8006C}"/>
              </a:ext>
            </a:extLst>
          </p:cNvPr>
          <p:cNvSpPr/>
          <p:nvPr/>
        </p:nvSpPr>
        <p:spPr>
          <a:xfrm>
            <a:off x="6811622" y="2609173"/>
            <a:ext cx="4634236" cy="1288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B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Create intuitive shopping experience with seamless navigation between product catalog and virtual fitting room</a:t>
            </a:r>
            <a:endParaRPr lang="en-US" sz="1750" dirty="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FF5829D2-21B1-B675-1002-BF3671217FBB}"/>
              </a:ext>
            </a:extLst>
          </p:cNvPr>
          <p:cNvSpPr/>
          <p:nvPr/>
        </p:nvSpPr>
        <p:spPr>
          <a:xfrm>
            <a:off x="560897" y="4847942"/>
            <a:ext cx="5038780" cy="2010058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BS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9B7FAA3C-9239-8FF5-D42D-A956233A8169}"/>
              </a:ext>
            </a:extLst>
          </p:cNvPr>
          <p:cNvSpPr/>
          <p:nvPr/>
        </p:nvSpPr>
        <p:spPr>
          <a:xfrm>
            <a:off x="818191" y="4956474"/>
            <a:ext cx="2584228" cy="355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B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750"/>
              </a:lnSpc>
            </a:pPr>
            <a:r>
              <a:rPr lang="en-US" sz="2400" dirty="0"/>
              <a:t>Data-Driven Command Center</a:t>
            </a:r>
            <a:endParaRPr lang="en-US" sz="220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770819BC-3C6C-5D3E-D066-0D90FB2563F9}"/>
              </a:ext>
            </a:extLst>
          </p:cNvPr>
          <p:cNvSpPr/>
          <p:nvPr/>
        </p:nvSpPr>
        <p:spPr>
          <a:xfrm>
            <a:off x="818191" y="5311955"/>
            <a:ext cx="4634143" cy="1288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B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Admins can manage complex inventory, 3D assets via GitHub links, and track real-time analytics.</a:t>
            </a:r>
            <a:endParaRPr lang="en-US" sz="1750" dirty="0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EC8186A8-7017-99B9-4AAD-6CA2CF90CBD9}"/>
              </a:ext>
            </a:extLst>
          </p:cNvPr>
          <p:cNvSpPr/>
          <p:nvPr/>
        </p:nvSpPr>
        <p:spPr>
          <a:xfrm>
            <a:off x="6510229" y="4847942"/>
            <a:ext cx="5038874" cy="1740751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BS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ABF3FAFA-FE1B-4A37-0742-8D79D7A24636}"/>
              </a:ext>
            </a:extLst>
          </p:cNvPr>
          <p:cNvSpPr/>
          <p:nvPr/>
        </p:nvSpPr>
        <p:spPr>
          <a:xfrm>
            <a:off x="2869027" y="1509027"/>
            <a:ext cx="431862" cy="511228"/>
          </a:xfrm>
          <a:prstGeom prst="roundRect">
            <a:avLst>
              <a:gd name="adj" fmla="val 134383"/>
            </a:avLst>
          </a:prstGeom>
          <a:solidFill>
            <a:srgbClr val="1C9770"/>
          </a:solidFill>
          <a:ln/>
        </p:spPr>
        <p:txBody>
          <a:bodyPr/>
          <a:lstStyle/>
          <a:p>
            <a:pPr algn="just"/>
            <a:r>
              <a:rPr lang="en-US" dirty="0">
                <a:solidFill>
                  <a:schemeClr val="bg1"/>
                </a:solidFill>
              </a:rPr>
              <a:t>1</a:t>
            </a:r>
            <a:endParaRPr lang="en-BS" dirty="0">
              <a:solidFill>
                <a:schemeClr val="bg1"/>
              </a:solidFill>
            </a:endParaRPr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EB8ED263-9497-BDF7-7D99-F03859A3921B}"/>
              </a:ext>
            </a:extLst>
          </p:cNvPr>
          <p:cNvSpPr/>
          <p:nvPr/>
        </p:nvSpPr>
        <p:spPr>
          <a:xfrm>
            <a:off x="10263479" y="4222080"/>
            <a:ext cx="214022" cy="402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B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4</a:t>
            </a:r>
            <a:endParaRPr lang="en-US" sz="2100" dirty="0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325429CB-0A7B-5901-64D0-4EFA8AF38F7C}"/>
              </a:ext>
            </a:extLst>
          </p:cNvPr>
          <p:cNvSpPr/>
          <p:nvPr/>
        </p:nvSpPr>
        <p:spPr>
          <a:xfrm>
            <a:off x="6755125" y="4956474"/>
            <a:ext cx="2252565" cy="419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B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Secure E-Commerce</a:t>
            </a:r>
            <a:endParaRPr lang="en-US" sz="2200" dirty="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68455ADC-0DCA-DC69-6277-93DC8ED0624A}"/>
              </a:ext>
            </a:extLst>
          </p:cNvPr>
          <p:cNvSpPr/>
          <p:nvPr/>
        </p:nvSpPr>
        <p:spPr>
          <a:xfrm>
            <a:off x="6755125" y="5311955"/>
            <a:ext cx="4634236" cy="1288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B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Implement robust payment gateway integration and secure transaction processing with data protection protocols</a:t>
            </a:r>
            <a:endParaRPr lang="en-US" sz="175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3F8D52ED-B897-A4A8-76D8-10AD223681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6726" y="1441738"/>
            <a:ext cx="5041829" cy="60355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2A7EF23A-BC7D-9DDB-CA76-97CEBF8DCE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347" y="4198223"/>
            <a:ext cx="5041829" cy="603556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14A4BD7-D38F-B7B4-37AE-08EB88675D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886" y="4198223"/>
            <a:ext cx="5041829" cy="603556"/>
          </a:xfrm>
          <a:prstGeom prst="rect">
            <a:avLst/>
          </a:prstGeom>
        </p:spPr>
      </p:pic>
      <p:sp>
        <p:nvSpPr>
          <p:cNvPr id="39" name="Shape 21">
            <a:extLst>
              <a:ext uri="{FF2B5EF4-FFF2-40B4-BE49-F238E27FC236}">
                <a16:creationId xmlns:a16="http://schemas.microsoft.com/office/drawing/2014/main" id="{D872E361-F6AA-3DE3-B3B5-CD0CC7DF95A9}"/>
              </a:ext>
            </a:extLst>
          </p:cNvPr>
          <p:cNvSpPr/>
          <p:nvPr/>
        </p:nvSpPr>
        <p:spPr>
          <a:xfrm>
            <a:off x="8854660" y="1487376"/>
            <a:ext cx="465960" cy="473018"/>
          </a:xfrm>
          <a:prstGeom prst="roundRect">
            <a:avLst>
              <a:gd name="adj" fmla="val 134383"/>
            </a:avLst>
          </a:prstGeom>
          <a:solidFill>
            <a:srgbClr val="1C9770"/>
          </a:solidFill>
          <a:ln/>
        </p:spPr>
        <p:txBody>
          <a:bodyPr/>
          <a:lstStyle/>
          <a:p>
            <a:pPr algn="just"/>
            <a:r>
              <a:rPr lang="en-US" dirty="0">
                <a:solidFill>
                  <a:schemeClr val="bg1"/>
                </a:solidFill>
              </a:rPr>
              <a:t>2</a:t>
            </a:r>
            <a:endParaRPr lang="en-BS" dirty="0">
              <a:solidFill>
                <a:schemeClr val="bg1"/>
              </a:solidFill>
            </a:endParaRPr>
          </a:p>
        </p:txBody>
      </p:sp>
      <p:sp>
        <p:nvSpPr>
          <p:cNvPr id="40" name="Shape 21">
            <a:extLst>
              <a:ext uri="{FF2B5EF4-FFF2-40B4-BE49-F238E27FC236}">
                <a16:creationId xmlns:a16="http://schemas.microsoft.com/office/drawing/2014/main" id="{1A82A4F1-5AB0-4213-C7B2-18864CD3D7BA}"/>
              </a:ext>
            </a:extLst>
          </p:cNvPr>
          <p:cNvSpPr/>
          <p:nvPr/>
        </p:nvSpPr>
        <p:spPr>
          <a:xfrm>
            <a:off x="2862831" y="4267506"/>
            <a:ext cx="431862" cy="511228"/>
          </a:xfrm>
          <a:prstGeom prst="roundRect">
            <a:avLst>
              <a:gd name="adj" fmla="val 134383"/>
            </a:avLst>
          </a:prstGeom>
          <a:solidFill>
            <a:srgbClr val="1C9770"/>
          </a:solidFill>
          <a:ln/>
        </p:spPr>
        <p:txBody>
          <a:bodyPr/>
          <a:lstStyle/>
          <a:p>
            <a:pPr algn="just"/>
            <a:r>
              <a:rPr lang="en-US" dirty="0">
                <a:solidFill>
                  <a:schemeClr val="bg1"/>
                </a:solidFill>
              </a:rPr>
              <a:t>3</a:t>
            </a:r>
            <a:endParaRPr lang="en-BS" dirty="0">
              <a:solidFill>
                <a:schemeClr val="bg1"/>
              </a:solidFill>
            </a:endParaRPr>
          </a:p>
        </p:txBody>
      </p:sp>
      <p:sp>
        <p:nvSpPr>
          <p:cNvPr id="41" name="Shape 21">
            <a:extLst>
              <a:ext uri="{FF2B5EF4-FFF2-40B4-BE49-F238E27FC236}">
                <a16:creationId xmlns:a16="http://schemas.microsoft.com/office/drawing/2014/main" id="{CA23F818-EB81-5168-247A-BCBD51DF6311}"/>
              </a:ext>
            </a:extLst>
          </p:cNvPr>
          <p:cNvSpPr/>
          <p:nvPr/>
        </p:nvSpPr>
        <p:spPr>
          <a:xfrm>
            <a:off x="8925869" y="4244387"/>
            <a:ext cx="431862" cy="511228"/>
          </a:xfrm>
          <a:prstGeom prst="roundRect">
            <a:avLst>
              <a:gd name="adj" fmla="val 134383"/>
            </a:avLst>
          </a:prstGeom>
          <a:solidFill>
            <a:srgbClr val="1C9770"/>
          </a:solidFill>
          <a:ln/>
        </p:spPr>
        <p:txBody>
          <a:bodyPr/>
          <a:lstStyle/>
          <a:p>
            <a:pPr algn="just"/>
            <a:r>
              <a:rPr lang="en-US" dirty="0">
                <a:solidFill>
                  <a:schemeClr val="bg1"/>
                </a:solidFill>
              </a:rPr>
              <a:t>4</a:t>
            </a:r>
            <a:endParaRPr lang="en-BS" dirty="0">
              <a:solidFill>
                <a:schemeClr val="bg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FCB8F94-A786-7173-3143-81BE2D8643E5}"/>
              </a:ext>
            </a:extLst>
          </p:cNvPr>
          <p:cNvSpPr txBox="1"/>
          <p:nvPr/>
        </p:nvSpPr>
        <p:spPr>
          <a:xfrm>
            <a:off x="560897" y="361546"/>
            <a:ext cx="6097772" cy="7798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00" b="1" dirty="0">
                <a:solidFill>
                  <a:srgbClr val="1E3A8A"/>
                </a:solidFill>
                <a:latin typeface="Times New Roman" panose="02020603050405020304" pitchFamily="18" charset="0"/>
                <a:ea typeface="DM Sans Semi Bold" pitchFamily="34" charset="-122"/>
                <a:cs typeface="Times New Roman" panose="02020603050405020304" pitchFamily="18" charset="0"/>
              </a:rPr>
              <a:t>Project Objectives</a:t>
            </a:r>
            <a:endParaRPr lang="en-US" sz="4400" b="1" dirty="0">
              <a:solidFill>
                <a:srgbClr val="1E3A8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1123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59203850-2B53-7DC0-F18E-97D55657267F}"/>
              </a:ext>
            </a:extLst>
          </p:cNvPr>
          <p:cNvSpPr/>
          <p:nvPr/>
        </p:nvSpPr>
        <p:spPr>
          <a:xfrm>
            <a:off x="600524" y="514231"/>
            <a:ext cx="5353407" cy="669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400" b="1" dirty="0">
                <a:solidFill>
                  <a:srgbClr val="1E3A8A"/>
                </a:solidFill>
                <a:latin typeface="Times New Roman" panose="02020603050405020304" pitchFamily="18" charset="0"/>
                <a:ea typeface="DM Sans Semi Bold" pitchFamily="34" charset="-122"/>
                <a:cs typeface="Times New Roman" panose="02020603050405020304" pitchFamily="18" charset="0"/>
              </a:rPr>
              <a:t>Technology Stack</a:t>
            </a:r>
            <a:endParaRPr lang="en-US" sz="4400" b="1" dirty="0">
              <a:solidFill>
                <a:srgbClr val="1E3A8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84AA9B02-03A3-75D5-7BED-67DE3CAD0416}"/>
              </a:ext>
            </a:extLst>
          </p:cNvPr>
          <p:cNvSpPr/>
          <p:nvPr/>
        </p:nvSpPr>
        <p:spPr>
          <a:xfrm>
            <a:off x="600524" y="1657231"/>
            <a:ext cx="3460671" cy="401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800" dirty="0">
                <a:solidFill>
                  <a:srgbClr val="030303"/>
                </a:solidFill>
                <a:latin typeface="Calibri Light (Headings)"/>
                <a:ea typeface="DM Sans Semi Bold" pitchFamily="34" charset="-122"/>
                <a:cs typeface="DM Sans Semi Bold" pitchFamily="34" charset="-120"/>
              </a:rPr>
              <a:t>Frontend Architecture</a:t>
            </a:r>
            <a:endParaRPr lang="en-US" sz="2800" dirty="0">
              <a:latin typeface="Calibri Light (Headings)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4B83AF8C-78F2-10C4-329B-01A70BA1EAC6}"/>
              </a:ext>
            </a:extLst>
          </p:cNvPr>
          <p:cNvSpPr/>
          <p:nvPr/>
        </p:nvSpPr>
        <p:spPr>
          <a:xfrm>
            <a:off x="600524" y="2245876"/>
            <a:ext cx="3790723" cy="4016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50000"/>
              </a:lnSpc>
              <a:buSzPct val="100000"/>
              <a:buChar char="•"/>
            </a:pPr>
            <a:r>
              <a:rPr lang="en-US" sz="16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React.js</a:t>
            </a: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with Hooks for component-based UI development</a:t>
            </a:r>
            <a:endParaRPr lang="en-US" sz="1650" dirty="0"/>
          </a:p>
          <a:p>
            <a:pPr marL="342900" indent="-342900" algn="just">
              <a:lnSpc>
                <a:spcPct val="150000"/>
              </a:lnSpc>
              <a:buSzPct val="100000"/>
              <a:buChar char="•"/>
            </a:pPr>
            <a:r>
              <a:rPr lang="en-US" sz="16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Three.js</a:t>
            </a: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for 3D model rendering and WebGL integration</a:t>
            </a:r>
            <a:endParaRPr lang="en-US" sz="1650" dirty="0"/>
          </a:p>
          <a:p>
            <a:pPr marL="342900" indent="-342900" algn="just">
              <a:lnSpc>
                <a:spcPct val="150000"/>
              </a:lnSpc>
              <a:buSzPct val="100000"/>
              <a:buChar char="•"/>
            </a:pPr>
            <a:r>
              <a:rPr lang="en-US" sz="16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WebGL</a:t>
            </a: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for hardware-accelerated graphics processing</a:t>
            </a:r>
            <a:endParaRPr lang="en-US" sz="1650" dirty="0"/>
          </a:p>
          <a:p>
            <a:pPr marL="342900" indent="-342900" algn="just">
              <a:lnSpc>
                <a:spcPct val="150000"/>
              </a:lnSpc>
              <a:buSzPct val="100000"/>
              <a:buChar char="•"/>
            </a:pPr>
            <a:r>
              <a:rPr lang="en-US" sz="16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GLB/GLTF</a:t>
            </a: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format support for 3D clothing models</a:t>
            </a:r>
            <a:endParaRPr lang="en-US" sz="1650" dirty="0"/>
          </a:p>
          <a:p>
            <a:pPr marL="342900" indent="-342900" algn="just">
              <a:lnSpc>
                <a:spcPct val="150000"/>
              </a:lnSpc>
              <a:buSzPct val="100000"/>
              <a:buChar char="•"/>
            </a:pPr>
            <a:r>
              <a:rPr lang="en-US" sz="16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Material-UI</a:t>
            </a: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for responsive design system</a:t>
            </a:r>
            <a:endParaRPr lang="en-US" sz="165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97DD0DE6-6A5E-C68A-5321-C7605C5DEDED}"/>
              </a:ext>
            </a:extLst>
          </p:cNvPr>
          <p:cNvSpPr/>
          <p:nvPr/>
        </p:nvSpPr>
        <p:spPr>
          <a:xfrm>
            <a:off x="5510694" y="1657231"/>
            <a:ext cx="3561398" cy="802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800" dirty="0">
                <a:solidFill>
                  <a:srgbClr val="030303"/>
                </a:solidFill>
                <a:latin typeface="Calibri Light (Headings)"/>
                <a:ea typeface="DM Sans Semi Bold" pitchFamily="34" charset="-122"/>
                <a:cs typeface="DM Sans Semi Bold" pitchFamily="34" charset="-120"/>
              </a:rPr>
              <a:t>Backend Infrastructure</a:t>
            </a:r>
            <a:endParaRPr lang="en-US" sz="2800" dirty="0">
              <a:latin typeface="Calibri Light (Headings)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57B8D599-4205-0C5E-A9CB-0A55C7B3E465}"/>
              </a:ext>
            </a:extLst>
          </p:cNvPr>
          <p:cNvSpPr/>
          <p:nvPr/>
        </p:nvSpPr>
        <p:spPr>
          <a:xfrm>
            <a:off x="5510694" y="2245876"/>
            <a:ext cx="4058608" cy="3280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50000"/>
              </a:lnSpc>
              <a:buSzPct val="100000"/>
              <a:buChar char="•"/>
            </a:pPr>
            <a:r>
              <a:rPr lang="en-US" sz="16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Node.js &amp; Express.js</a:t>
            </a: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for server-side logic</a:t>
            </a:r>
            <a:endParaRPr lang="en-US" sz="1650" dirty="0"/>
          </a:p>
          <a:p>
            <a:pPr marL="342900" indent="-342900" algn="just">
              <a:lnSpc>
                <a:spcPct val="150000"/>
              </a:lnSpc>
              <a:buSzPct val="100000"/>
              <a:buChar char="•"/>
            </a:pPr>
            <a:r>
              <a:rPr lang="en-US" sz="16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MongoDB</a:t>
            </a: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for document-based data storage</a:t>
            </a:r>
            <a:endParaRPr lang="en-US" sz="1650" dirty="0"/>
          </a:p>
          <a:p>
            <a:pPr marL="342900" indent="-342900" algn="just">
              <a:lnSpc>
                <a:spcPct val="150000"/>
              </a:lnSpc>
              <a:buSzPct val="100000"/>
              <a:buChar char="•"/>
            </a:pPr>
            <a:r>
              <a:rPr lang="en-US" sz="16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Socket.IO</a:t>
            </a: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for real-time communication</a:t>
            </a:r>
            <a:endParaRPr lang="en-US" sz="1650" dirty="0"/>
          </a:p>
          <a:p>
            <a:pPr marL="342900" indent="-342900" algn="just">
              <a:lnSpc>
                <a:spcPct val="150000"/>
              </a:lnSpc>
              <a:buSzPct val="100000"/>
              <a:buChar char="•"/>
            </a:pPr>
            <a:r>
              <a:rPr lang="en-US" sz="16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JWT</a:t>
            </a: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for secure authentication</a:t>
            </a:r>
            <a:endParaRPr lang="en-US" sz="1650" dirty="0"/>
          </a:p>
          <a:p>
            <a:pPr marL="342900" indent="-342900" algn="just">
              <a:lnSpc>
                <a:spcPct val="150000"/>
              </a:lnSpc>
              <a:buSzPct val="100000"/>
              <a:buChar char="•"/>
            </a:pPr>
            <a:r>
              <a:rPr lang="en-US" sz="16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Bcrypt</a:t>
            </a: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for password encryption</a:t>
            </a:r>
            <a:endParaRPr lang="en-US" sz="1650" dirty="0"/>
          </a:p>
        </p:txBody>
      </p:sp>
    </p:spTree>
    <p:extLst>
      <p:ext uri="{BB962C8B-B14F-4D97-AF65-F5344CB8AC3E}">
        <p14:creationId xmlns:p14="http://schemas.microsoft.com/office/powerpoint/2010/main" val="14754305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4DC02-A927-3FB0-3AEC-39A3ACB35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85066A8-B31B-C266-6E23-78A86BBCE3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316056"/>
              </p:ext>
            </p:extLst>
          </p:nvPr>
        </p:nvGraphicFramePr>
        <p:xfrm>
          <a:off x="641350" y="2166329"/>
          <a:ext cx="10909299" cy="424717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636433">
                  <a:extLst>
                    <a:ext uri="{9D8B030D-6E8A-4147-A177-3AD203B41FA5}">
                      <a16:colId xmlns:a16="http://schemas.microsoft.com/office/drawing/2014/main" val="1864625350"/>
                    </a:ext>
                  </a:extLst>
                </a:gridCol>
                <a:gridCol w="3636433">
                  <a:extLst>
                    <a:ext uri="{9D8B030D-6E8A-4147-A177-3AD203B41FA5}">
                      <a16:colId xmlns:a16="http://schemas.microsoft.com/office/drawing/2014/main" val="1471674992"/>
                    </a:ext>
                  </a:extLst>
                </a:gridCol>
                <a:gridCol w="3636433">
                  <a:extLst>
                    <a:ext uri="{9D8B030D-6E8A-4147-A177-3AD203B41FA5}">
                      <a16:colId xmlns:a16="http://schemas.microsoft.com/office/drawing/2014/main" val="1628054376"/>
                    </a:ext>
                  </a:extLst>
                </a:gridCol>
              </a:tblGrid>
              <a:tr h="8494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0" dirty="0">
                          <a:solidFill>
                            <a:srgbClr val="FFFFFF"/>
                          </a:solidFill>
                          <a:effectLst/>
                        </a:rPr>
                        <a:t>Category</a:t>
                      </a:r>
                      <a:endParaRPr lang="en-US" sz="1800" b="0" i="0" dirty="0">
                        <a:solidFill>
                          <a:srgbClr val="FFFFFF"/>
                        </a:solidFill>
                        <a:effectLst/>
                        <a:latin typeface="Lexend"/>
                      </a:endParaRPr>
                    </a:p>
                  </a:txBody>
                  <a:tcPr marL="16116" marR="16116" marT="8058" marB="8058"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0" dirty="0">
                          <a:solidFill>
                            <a:srgbClr val="FFFFFF"/>
                          </a:solidFill>
                          <a:effectLst/>
                        </a:rPr>
                        <a:t>Hardware Requirement</a:t>
                      </a:r>
                      <a:endParaRPr lang="en-US" sz="1800" b="0" i="0" dirty="0">
                        <a:solidFill>
                          <a:srgbClr val="FFFFFF"/>
                        </a:solidFill>
                        <a:effectLst/>
                        <a:latin typeface="Lexend"/>
                      </a:endParaRPr>
                    </a:p>
                  </a:txBody>
                  <a:tcPr marL="16116" marR="16116" marT="8058" marB="8058"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0" dirty="0">
                          <a:solidFill>
                            <a:srgbClr val="FFFFFF"/>
                          </a:solidFill>
                          <a:effectLst/>
                        </a:rPr>
                        <a:t>Software Requirement</a:t>
                      </a:r>
                      <a:endParaRPr lang="en-US" sz="1800" b="0" i="0" dirty="0">
                        <a:solidFill>
                          <a:srgbClr val="FFFFFF"/>
                        </a:solidFill>
                        <a:effectLst/>
                        <a:latin typeface="Lexend"/>
                      </a:endParaRPr>
                    </a:p>
                  </a:txBody>
                  <a:tcPr marL="16116" marR="16116" marT="8058" marB="8058" anchor="ctr"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038012"/>
                  </a:ext>
                </a:extLst>
              </a:tr>
              <a:tr h="8494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0" dirty="0">
                          <a:effectLst/>
                        </a:rPr>
                        <a:t>Processor</a:t>
                      </a:r>
                      <a:endParaRPr lang="en-US" sz="1800" b="0" i="0" dirty="0">
                        <a:effectLst/>
                        <a:latin typeface="Inter"/>
                      </a:endParaRPr>
                    </a:p>
                  </a:txBody>
                  <a:tcPr marL="16116" marR="16116" marT="8058" marB="805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0" dirty="0">
                          <a:effectLst/>
                        </a:rPr>
                        <a:t>Intel i5 or higher</a:t>
                      </a:r>
                      <a:endParaRPr lang="en-US" sz="1800" b="0" i="0" dirty="0">
                        <a:effectLst/>
                        <a:latin typeface="Inter"/>
                      </a:endParaRPr>
                    </a:p>
                  </a:txBody>
                  <a:tcPr marL="16116" marR="16116" marT="8058" marB="805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0" dirty="0">
                          <a:effectLst/>
                        </a:rPr>
                        <a:t>Node.js Runtime</a:t>
                      </a:r>
                      <a:endParaRPr lang="en-US" sz="1800" b="0" i="0" dirty="0">
                        <a:effectLst/>
                        <a:latin typeface="Inter"/>
                      </a:endParaRPr>
                    </a:p>
                  </a:txBody>
                  <a:tcPr marL="16116" marR="16116" marT="8058" marB="8058" anchor="ctr"/>
                </a:tc>
                <a:extLst>
                  <a:ext uri="{0D108BD9-81ED-4DB2-BD59-A6C34878D82A}">
                    <a16:rowId xmlns:a16="http://schemas.microsoft.com/office/drawing/2014/main" val="3595791427"/>
                  </a:ext>
                </a:extLst>
              </a:tr>
              <a:tr h="8494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0" dirty="0">
                          <a:effectLst/>
                        </a:rPr>
                        <a:t>Memory (RAM)</a:t>
                      </a:r>
                      <a:endParaRPr lang="en-US" sz="1800" b="0" i="0" dirty="0">
                        <a:effectLst/>
                        <a:latin typeface="Inter"/>
                      </a:endParaRPr>
                    </a:p>
                  </a:txBody>
                  <a:tcPr marL="16116" marR="16116" marT="8058" marB="805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0">
                          <a:effectLst/>
                        </a:rPr>
                        <a:t>8 GB Minimum</a:t>
                      </a:r>
                      <a:endParaRPr lang="en-US" sz="1800" b="0" i="0">
                        <a:effectLst/>
                        <a:latin typeface="Inter"/>
                      </a:endParaRPr>
                    </a:p>
                  </a:txBody>
                  <a:tcPr marL="16116" marR="16116" marT="8058" marB="805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0">
                          <a:effectLst/>
                        </a:rPr>
                        <a:t>VS Code / Atom</a:t>
                      </a:r>
                      <a:endParaRPr lang="en-US" sz="1800" b="0" i="0">
                        <a:effectLst/>
                        <a:latin typeface="Inter"/>
                      </a:endParaRPr>
                    </a:p>
                  </a:txBody>
                  <a:tcPr marL="16116" marR="16116" marT="8058" marB="8058" anchor="ctr"/>
                </a:tc>
                <a:extLst>
                  <a:ext uri="{0D108BD9-81ED-4DB2-BD59-A6C34878D82A}">
                    <a16:rowId xmlns:a16="http://schemas.microsoft.com/office/drawing/2014/main" val="1899389359"/>
                  </a:ext>
                </a:extLst>
              </a:tr>
              <a:tr h="8494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0" dirty="0">
                          <a:effectLst/>
                        </a:rPr>
                        <a:t>Storage</a:t>
                      </a:r>
                      <a:endParaRPr lang="en-US" sz="1800" b="0" i="0" dirty="0">
                        <a:effectLst/>
                        <a:latin typeface="Inter"/>
                      </a:endParaRPr>
                    </a:p>
                  </a:txBody>
                  <a:tcPr marL="16116" marR="16116" marT="8058" marB="805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0" dirty="0">
                          <a:effectLst/>
                        </a:rPr>
                        <a:t>256 GB SSD</a:t>
                      </a:r>
                      <a:endParaRPr lang="en-US" sz="1800" b="0" i="0" dirty="0">
                        <a:effectLst/>
                        <a:latin typeface="Inter"/>
                      </a:endParaRPr>
                    </a:p>
                  </a:txBody>
                  <a:tcPr marL="16116" marR="16116" marT="8058" marB="805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0">
                          <a:effectLst/>
                        </a:rPr>
                        <a:t>MongoDB Compass</a:t>
                      </a:r>
                      <a:endParaRPr lang="en-US" sz="1800" b="0" i="0">
                        <a:effectLst/>
                        <a:latin typeface="Inter"/>
                      </a:endParaRPr>
                    </a:p>
                  </a:txBody>
                  <a:tcPr marL="16116" marR="16116" marT="8058" marB="8058" anchor="ctr"/>
                </a:tc>
                <a:extLst>
                  <a:ext uri="{0D108BD9-81ED-4DB2-BD59-A6C34878D82A}">
                    <a16:rowId xmlns:a16="http://schemas.microsoft.com/office/drawing/2014/main" val="840704544"/>
                  </a:ext>
                </a:extLst>
              </a:tr>
              <a:tr h="8494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0" dirty="0">
                          <a:effectLst/>
                        </a:rPr>
                        <a:t>Graphics</a:t>
                      </a:r>
                      <a:endParaRPr lang="en-US" sz="1800" b="0" i="0" dirty="0">
                        <a:effectLst/>
                        <a:latin typeface="Inter"/>
                      </a:endParaRPr>
                    </a:p>
                  </a:txBody>
                  <a:tcPr marL="16116" marR="16116" marT="8058" marB="805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0">
                          <a:effectLst/>
                        </a:rPr>
                        <a:t>Integrated / Dedicated GPU</a:t>
                      </a:r>
                      <a:endParaRPr lang="en-US" sz="1800" b="0" i="0">
                        <a:effectLst/>
                        <a:latin typeface="Inter"/>
                      </a:endParaRPr>
                    </a:p>
                  </a:txBody>
                  <a:tcPr marL="16116" marR="16116" marT="8058" marB="805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0" dirty="0">
                          <a:effectLst/>
                        </a:rPr>
                        <a:t>Modern Web Browser</a:t>
                      </a:r>
                      <a:endParaRPr lang="en-US" sz="1800" b="0" i="0" dirty="0">
                        <a:effectLst/>
                        <a:latin typeface="Inter"/>
                      </a:endParaRPr>
                    </a:p>
                  </a:txBody>
                  <a:tcPr marL="16116" marR="16116" marT="8058" marB="8058" anchor="ctr"/>
                </a:tc>
                <a:extLst>
                  <a:ext uri="{0D108BD9-81ED-4DB2-BD59-A6C34878D82A}">
                    <a16:rowId xmlns:a16="http://schemas.microsoft.com/office/drawing/2014/main" val="2981885599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7624BD7D-0551-1F92-7018-89FD00C51D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349" y="148243"/>
            <a:ext cx="10909300" cy="17081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BS" altLang="en-BS" sz="1200" b="0" i="0" u="none" strike="noStrike" cap="none" normalizeH="0" baseline="0" dirty="0">
                <a:ln>
                  <a:noFill/>
                </a:ln>
                <a:solidFill>
                  <a:srgbClr val="F44336"/>
                </a:solidFill>
                <a:effectLst/>
                <a:latin typeface="Inter"/>
              </a:rPr>
            </a:br>
            <a:endParaRPr kumimoji="0" lang="en-BS" altLang="en-BS" sz="7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Inter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BS" altLang="en-BS" sz="4400" b="1" i="0" u="none" strike="noStrike" cap="none" normalizeH="0" baseline="0" dirty="0">
                <a:ln>
                  <a:noFill/>
                </a:ln>
                <a:solidFill>
                  <a:srgbClr val="1E3A8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Environment &amp; Requirements</a:t>
            </a:r>
            <a:endParaRPr kumimoji="0" lang="en-BS" altLang="en-BS" sz="1050" b="1" i="0" u="none" strike="noStrike" cap="none" normalizeH="0" baseline="0" dirty="0">
              <a:ln>
                <a:noFill/>
              </a:ln>
              <a:solidFill>
                <a:srgbClr val="1E3A8A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BS" sz="500" b="0" i="0" u="none" strike="noStrike" cap="none" normalizeH="0" baseline="0" dirty="0">
              <a:ln>
                <a:noFill/>
              </a:ln>
              <a:solidFill>
                <a:srgbClr val="4C4C4F"/>
              </a:solidFill>
              <a:effectLst/>
              <a:latin typeface="Inter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BS" altLang="en-BS" sz="2100" b="0" i="0" u="none" strike="noStrike" cap="none" normalizeH="0" baseline="0" dirty="0">
                <a:ln>
                  <a:noFill/>
                </a:ln>
                <a:solidFill>
                  <a:srgbClr val="4C4C4F"/>
                </a:solidFill>
                <a:effectLst/>
                <a:latin typeface="Inter"/>
              </a:rPr>
              <a:t>Minimum hardware and software specifications for optimal system performance.</a:t>
            </a:r>
            <a:endParaRPr kumimoji="0" lang="en-BS" altLang="en-B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BS" altLang="en-B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766C5E6-11AE-02A3-8B26-066AED7333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1750" y="18256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BS" altLang="en-B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BS" altLang="en-B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6218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A28C619-A728-9B73-34E7-722E617109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9360616"/>
              </p:ext>
            </p:extLst>
          </p:nvPr>
        </p:nvGraphicFramePr>
        <p:xfrm>
          <a:off x="704147" y="2070100"/>
          <a:ext cx="10636251" cy="42155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545417">
                  <a:extLst>
                    <a:ext uri="{9D8B030D-6E8A-4147-A177-3AD203B41FA5}">
                      <a16:colId xmlns:a16="http://schemas.microsoft.com/office/drawing/2014/main" val="2447227575"/>
                    </a:ext>
                  </a:extLst>
                </a:gridCol>
                <a:gridCol w="3545417">
                  <a:extLst>
                    <a:ext uri="{9D8B030D-6E8A-4147-A177-3AD203B41FA5}">
                      <a16:colId xmlns:a16="http://schemas.microsoft.com/office/drawing/2014/main" val="4260221099"/>
                    </a:ext>
                  </a:extLst>
                </a:gridCol>
                <a:gridCol w="3545417">
                  <a:extLst>
                    <a:ext uri="{9D8B030D-6E8A-4147-A177-3AD203B41FA5}">
                      <a16:colId xmlns:a16="http://schemas.microsoft.com/office/drawing/2014/main" val="3903912660"/>
                    </a:ext>
                  </a:extLst>
                </a:gridCol>
              </a:tblGrid>
              <a:tr h="8329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0" dirty="0">
                          <a:solidFill>
                            <a:srgbClr val="FFFFFF"/>
                          </a:solidFill>
                          <a:effectLst/>
                        </a:rPr>
                        <a:t>Feature</a:t>
                      </a:r>
                      <a:endParaRPr lang="en-US" sz="1800" b="0" i="0" dirty="0">
                        <a:solidFill>
                          <a:srgbClr val="FFFFFF"/>
                        </a:solidFill>
                        <a:effectLst/>
                        <a:latin typeface="Lexend"/>
                      </a:endParaRPr>
                    </a:p>
                  </a:txBody>
                  <a:tcPr marL="16116" marR="16116" marT="8058" marB="8058"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0" dirty="0">
                          <a:solidFill>
                            <a:srgbClr val="FFFFFF"/>
                          </a:solidFill>
                          <a:effectLst/>
                        </a:rPr>
                        <a:t>Traditional E-commerce</a:t>
                      </a:r>
                      <a:endParaRPr lang="en-US" sz="1800" b="0" i="0" dirty="0">
                        <a:solidFill>
                          <a:srgbClr val="FFFFFF"/>
                        </a:solidFill>
                        <a:effectLst/>
                        <a:latin typeface="Lexend"/>
                      </a:endParaRPr>
                    </a:p>
                  </a:txBody>
                  <a:tcPr marL="16116" marR="16116" marT="8058" marB="8058"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0" dirty="0">
                          <a:solidFill>
                            <a:srgbClr val="FFFFFF"/>
                          </a:solidFill>
                          <a:effectLst/>
                        </a:rPr>
                        <a:t>Thread Theory (Proposed)</a:t>
                      </a:r>
                      <a:endParaRPr lang="en-US" sz="1800" b="0" i="0" dirty="0">
                        <a:solidFill>
                          <a:srgbClr val="FFFFFF"/>
                        </a:solidFill>
                        <a:effectLst/>
                        <a:latin typeface="Lexend"/>
                      </a:endParaRPr>
                    </a:p>
                  </a:txBody>
                  <a:tcPr marL="16116" marR="16116" marT="8058" marB="8058" anchor="ctr"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8351987"/>
                  </a:ext>
                </a:extLst>
              </a:tr>
              <a:tr h="84564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0" dirty="0">
                          <a:effectLst/>
                        </a:rPr>
                        <a:t>Visuals</a:t>
                      </a:r>
                      <a:endParaRPr lang="en-US" sz="1800" b="0" i="0" dirty="0">
                        <a:effectLst/>
                        <a:latin typeface="Inter"/>
                      </a:endParaRPr>
                    </a:p>
                  </a:txBody>
                  <a:tcPr marL="16116" marR="16116" marT="8058" marB="805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0">
                          <a:effectLst/>
                        </a:rPr>
                        <a:t>Static 2D Images</a:t>
                      </a:r>
                      <a:endParaRPr lang="en-US" sz="1800" b="0" i="0">
                        <a:effectLst/>
                        <a:latin typeface="Inter"/>
                      </a:endParaRPr>
                    </a:p>
                  </a:txBody>
                  <a:tcPr marL="16116" marR="16116" marT="8058" marB="805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0">
                          <a:effectLst/>
                        </a:rPr>
                        <a:t>Interactive 3D Models</a:t>
                      </a:r>
                      <a:endParaRPr lang="en-US" sz="1800" b="0" i="0">
                        <a:effectLst/>
                        <a:latin typeface="Inter"/>
                      </a:endParaRPr>
                    </a:p>
                  </a:txBody>
                  <a:tcPr marL="16116" marR="16116" marT="8058" marB="8058" anchor="ctr"/>
                </a:tc>
                <a:extLst>
                  <a:ext uri="{0D108BD9-81ED-4DB2-BD59-A6C34878D82A}">
                    <a16:rowId xmlns:a16="http://schemas.microsoft.com/office/drawing/2014/main" val="1782612056"/>
                  </a:ext>
                </a:extLst>
              </a:tr>
              <a:tr h="84564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0">
                          <a:effectLst/>
                        </a:rPr>
                        <a:t>Fitting</a:t>
                      </a:r>
                      <a:endParaRPr lang="en-US" sz="1800" b="0" i="0">
                        <a:effectLst/>
                        <a:latin typeface="Inter"/>
                      </a:endParaRPr>
                    </a:p>
                  </a:txBody>
                  <a:tcPr marL="16116" marR="16116" marT="8058" marB="805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0">
                          <a:effectLst/>
                        </a:rPr>
                        <a:t>Imaginary / Size Charts</a:t>
                      </a:r>
                      <a:endParaRPr lang="en-US" sz="1800" b="0" i="0">
                        <a:effectLst/>
                        <a:latin typeface="Inter"/>
                      </a:endParaRPr>
                    </a:p>
                  </a:txBody>
                  <a:tcPr marL="16116" marR="16116" marT="8058" marB="805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0">
                          <a:effectLst/>
                        </a:rPr>
                        <a:t>Real-time Virtual Try-On</a:t>
                      </a:r>
                      <a:endParaRPr lang="en-US" sz="1800" b="0" i="0">
                        <a:effectLst/>
                        <a:latin typeface="Inter"/>
                      </a:endParaRPr>
                    </a:p>
                  </a:txBody>
                  <a:tcPr marL="16116" marR="16116" marT="8058" marB="8058" anchor="ctr"/>
                </a:tc>
                <a:extLst>
                  <a:ext uri="{0D108BD9-81ED-4DB2-BD59-A6C34878D82A}">
                    <a16:rowId xmlns:a16="http://schemas.microsoft.com/office/drawing/2014/main" val="3285994513"/>
                  </a:ext>
                </a:extLst>
              </a:tr>
              <a:tr h="84564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0">
                          <a:effectLst/>
                        </a:rPr>
                        <a:t>Returns</a:t>
                      </a:r>
                      <a:endParaRPr lang="en-US" sz="1800" b="0" i="0">
                        <a:effectLst/>
                        <a:latin typeface="Inter"/>
                      </a:endParaRPr>
                    </a:p>
                  </a:txBody>
                  <a:tcPr marL="16116" marR="16116" marT="8058" marB="805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0">
                          <a:effectLst/>
                        </a:rPr>
                        <a:t>High due to sizing issues</a:t>
                      </a:r>
                      <a:endParaRPr lang="en-US" sz="1800" b="0" i="0">
                        <a:effectLst/>
                        <a:latin typeface="Inter"/>
                      </a:endParaRPr>
                    </a:p>
                  </a:txBody>
                  <a:tcPr marL="16116" marR="16116" marT="8058" marB="805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0">
                          <a:effectLst/>
                        </a:rPr>
                        <a:t>Significantly reduced</a:t>
                      </a:r>
                      <a:endParaRPr lang="en-US" sz="1800" b="0" i="0">
                        <a:effectLst/>
                        <a:latin typeface="Inter"/>
                      </a:endParaRPr>
                    </a:p>
                  </a:txBody>
                  <a:tcPr marL="16116" marR="16116" marT="8058" marB="8058" anchor="ctr"/>
                </a:tc>
                <a:extLst>
                  <a:ext uri="{0D108BD9-81ED-4DB2-BD59-A6C34878D82A}">
                    <a16:rowId xmlns:a16="http://schemas.microsoft.com/office/drawing/2014/main" val="3474196517"/>
                  </a:ext>
                </a:extLst>
              </a:tr>
              <a:tr h="84564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0">
                          <a:effectLst/>
                        </a:rPr>
                        <a:t>Experience</a:t>
                      </a:r>
                      <a:endParaRPr lang="en-US" sz="1800" b="0" i="0">
                        <a:effectLst/>
                        <a:latin typeface="Inter"/>
                      </a:endParaRPr>
                    </a:p>
                  </a:txBody>
                  <a:tcPr marL="16116" marR="16116" marT="8058" marB="805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0" dirty="0">
                          <a:effectLst/>
                        </a:rPr>
                        <a:t>Transaction-based</a:t>
                      </a:r>
                      <a:endParaRPr lang="en-US" sz="1800" b="0" i="0" dirty="0">
                        <a:effectLst/>
                        <a:latin typeface="Inter"/>
                      </a:endParaRPr>
                    </a:p>
                  </a:txBody>
                  <a:tcPr marL="16116" marR="16116" marT="8058" marB="805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0" dirty="0">
                          <a:effectLst/>
                        </a:rPr>
                        <a:t>Immersive &amp; Interactive</a:t>
                      </a:r>
                      <a:endParaRPr lang="en-US" sz="1800" b="0" i="0" dirty="0">
                        <a:effectLst/>
                        <a:latin typeface="Inter"/>
                      </a:endParaRPr>
                    </a:p>
                  </a:txBody>
                  <a:tcPr marL="16116" marR="16116" marT="8058" marB="8058" anchor="ctr"/>
                </a:tc>
                <a:extLst>
                  <a:ext uri="{0D108BD9-81ED-4DB2-BD59-A6C34878D82A}">
                    <a16:rowId xmlns:a16="http://schemas.microsoft.com/office/drawing/2014/main" val="1492488454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671CDE9B-928C-D7C3-0A84-40E17E94FF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147" y="446956"/>
            <a:ext cx="9244197" cy="146193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BS" altLang="en-BS" sz="4400" b="1" i="0" u="none" strike="noStrike" cap="none" normalizeH="0" baseline="0" dirty="0">
                <a:ln>
                  <a:noFill/>
                </a:ln>
                <a:solidFill>
                  <a:srgbClr val="1E3A8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Evolution from Existing Systems</a:t>
            </a:r>
            <a:endParaRPr kumimoji="0" lang="en-US" altLang="en-BS" sz="4400" b="1" i="0" u="none" strike="noStrike" cap="none" normalizeH="0" baseline="0" dirty="0">
              <a:ln>
                <a:noFill/>
              </a:ln>
              <a:solidFill>
                <a:srgbClr val="1E3A8A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BS" altLang="en-BS" sz="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Inter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BS" altLang="en-BS" sz="2100" b="0" i="0" u="none" strike="noStrike" cap="none" normalizeH="0" baseline="0" dirty="0" err="1">
                <a:ln>
                  <a:noFill/>
                </a:ln>
                <a:solidFill>
                  <a:srgbClr val="4C4C4F"/>
                </a:solidFill>
                <a:effectLst/>
                <a:latin typeface="Inter"/>
              </a:rPr>
              <a:t>Analyzing</a:t>
            </a:r>
            <a:r>
              <a:rPr kumimoji="0" lang="en-BS" altLang="en-BS" sz="2100" b="0" i="0" u="none" strike="noStrike" cap="none" normalizeH="0" baseline="0" dirty="0">
                <a:ln>
                  <a:noFill/>
                </a:ln>
                <a:solidFill>
                  <a:srgbClr val="4C4C4F"/>
                </a:solidFill>
                <a:effectLst/>
                <a:latin typeface="Inter"/>
              </a:rPr>
              <a:t> the limitations of traditional e-commerce vs. the Thread Theory solution.</a:t>
            </a:r>
            <a:endParaRPr kumimoji="0" lang="en-BS" altLang="en-B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BS" altLang="en-B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1751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189;p18" descr="image.png">
            <a:extLst>
              <a:ext uri="{FF2B5EF4-FFF2-40B4-BE49-F238E27FC236}">
                <a16:creationId xmlns:a16="http://schemas.microsoft.com/office/drawing/2014/main" id="{98C57E7F-5951-8B66-9908-2A01CFA5176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352" y="1971675"/>
            <a:ext cx="3492549" cy="4358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90;p18" descr="image.png">
            <a:extLst>
              <a:ext uri="{FF2B5EF4-FFF2-40B4-BE49-F238E27FC236}">
                <a16:creationId xmlns:a16="http://schemas.microsoft.com/office/drawing/2014/main" id="{0FB4D22A-CEB4-9701-E39B-0CB297BB9D4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49651" y="1971675"/>
            <a:ext cx="3492549" cy="4358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91;p18" descr="image.png">
            <a:extLst>
              <a:ext uri="{FF2B5EF4-FFF2-40B4-BE49-F238E27FC236}">
                <a16:creationId xmlns:a16="http://schemas.microsoft.com/office/drawing/2014/main" id="{D380583C-2D11-E67F-DBAA-6F3A5C812B6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1" y="1971675"/>
            <a:ext cx="3492549" cy="4358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94;p18" descr="image.png">
            <a:extLst>
              <a:ext uri="{FF2B5EF4-FFF2-40B4-BE49-F238E27FC236}">
                <a16:creationId xmlns:a16="http://schemas.microsoft.com/office/drawing/2014/main" id="{6D14BB75-13ED-87AF-7E37-7858AB2F2A8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84177" y="2266950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95;p18">
            <a:extLst>
              <a:ext uri="{FF2B5EF4-FFF2-40B4-BE49-F238E27FC236}">
                <a16:creationId xmlns:a16="http://schemas.microsoft.com/office/drawing/2014/main" id="{96751CCA-2B4B-F401-58D5-9266C3E1C0CA}"/>
              </a:ext>
            </a:extLst>
          </p:cNvPr>
          <p:cNvSpPr txBox="1"/>
          <p:nvPr/>
        </p:nvSpPr>
        <p:spPr>
          <a:xfrm>
            <a:off x="1089738" y="3124200"/>
            <a:ext cx="245577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Technical Feasibility</a:t>
            </a:r>
            <a:endParaRPr/>
          </a:p>
        </p:txBody>
      </p:sp>
      <p:sp>
        <p:nvSpPr>
          <p:cNvPr id="9" name="Google Shape;196;p18">
            <a:extLst>
              <a:ext uri="{FF2B5EF4-FFF2-40B4-BE49-F238E27FC236}">
                <a16:creationId xmlns:a16="http://schemas.microsoft.com/office/drawing/2014/main" id="{63293778-9AAD-66D3-C9F2-74A2C84B2468}"/>
              </a:ext>
            </a:extLst>
          </p:cNvPr>
          <p:cNvSpPr txBox="1"/>
          <p:nvPr/>
        </p:nvSpPr>
        <p:spPr>
          <a:xfrm>
            <a:off x="771377" y="3857625"/>
            <a:ext cx="3092499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sz="1600" dirty="0"/>
              <a:t>Utilizes the proven MERN stack for fast SPA performance. Client-side AI (</a:t>
            </a:r>
            <a:r>
              <a:rPr lang="en-US" sz="1600" dirty="0" err="1"/>
              <a:t>MediaPipe</a:t>
            </a:r>
            <a:r>
              <a:rPr lang="en-US" sz="1600" dirty="0"/>
              <a:t>) and WebGL (Three.js) enable seamless real-time 3D virtual try-ons without overloading the server.</a:t>
            </a:r>
            <a:endParaRPr dirty="0"/>
          </a:p>
        </p:txBody>
      </p:sp>
      <p:pic>
        <p:nvPicPr>
          <p:cNvPr id="10" name="Google Shape;197;p18" descr="image.png">
            <a:extLst>
              <a:ext uri="{FF2B5EF4-FFF2-40B4-BE49-F238E27FC236}">
                <a16:creationId xmlns:a16="http://schemas.microsoft.com/office/drawing/2014/main" id="{3F0A1EB4-A2DD-0BF2-4789-8AD8BA3ED9A4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62477" y="2266950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98;p18">
            <a:extLst>
              <a:ext uri="{FF2B5EF4-FFF2-40B4-BE49-F238E27FC236}">
                <a16:creationId xmlns:a16="http://schemas.microsoft.com/office/drawing/2014/main" id="{320C4F2D-3AD0-EEF5-18BF-CDC3B66548BB}"/>
              </a:ext>
            </a:extLst>
          </p:cNvPr>
          <p:cNvSpPr txBox="1"/>
          <p:nvPr/>
        </p:nvSpPr>
        <p:spPr>
          <a:xfrm>
            <a:off x="4847414" y="3124200"/>
            <a:ext cx="2496874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Economic Feasibility</a:t>
            </a:r>
            <a:endParaRPr/>
          </a:p>
        </p:txBody>
      </p:sp>
      <p:sp>
        <p:nvSpPr>
          <p:cNvPr id="12" name="Google Shape;199;p18">
            <a:extLst>
              <a:ext uri="{FF2B5EF4-FFF2-40B4-BE49-F238E27FC236}">
                <a16:creationId xmlns:a16="http://schemas.microsoft.com/office/drawing/2014/main" id="{A6B67C02-386F-69E8-EBBE-65E3D48C8169}"/>
              </a:ext>
            </a:extLst>
          </p:cNvPr>
          <p:cNvSpPr txBox="1"/>
          <p:nvPr/>
        </p:nvSpPr>
        <p:spPr>
          <a:xfrm>
            <a:off x="4549676" y="3857625"/>
            <a:ext cx="3092499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sz="1600" dirty="0"/>
              <a:t>Leveraging open-source technologies eliminates licensing fees. Hosting 3D assets externally reduces bandwidth costs, while the virtual fitting room maximizes ROI by drastically minimizing return rates.</a:t>
            </a:r>
            <a:endParaRPr dirty="0"/>
          </a:p>
        </p:txBody>
      </p:sp>
      <p:pic>
        <p:nvPicPr>
          <p:cNvPr id="13" name="Google Shape;200;p18" descr="image.png">
            <a:extLst>
              <a:ext uri="{FF2B5EF4-FFF2-40B4-BE49-F238E27FC236}">
                <a16:creationId xmlns:a16="http://schemas.microsoft.com/office/drawing/2014/main" id="{FCEA6805-EEC9-D8DB-93A6-48A10D50AF3E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40776" y="2266950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201;p18">
            <a:extLst>
              <a:ext uri="{FF2B5EF4-FFF2-40B4-BE49-F238E27FC236}">
                <a16:creationId xmlns:a16="http://schemas.microsoft.com/office/drawing/2014/main" id="{8C804A32-127D-DBF0-A1F6-BBE5A518FD03}"/>
              </a:ext>
            </a:extLst>
          </p:cNvPr>
          <p:cNvSpPr txBox="1"/>
          <p:nvPr/>
        </p:nvSpPr>
        <p:spPr>
          <a:xfrm>
            <a:off x="8493506" y="3124200"/>
            <a:ext cx="2761438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Operational Feasibility</a:t>
            </a:r>
            <a:endParaRPr/>
          </a:p>
        </p:txBody>
      </p:sp>
      <p:sp>
        <p:nvSpPr>
          <p:cNvPr id="15" name="Google Shape;202;p18">
            <a:extLst>
              <a:ext uri="{FF2B5EF4-FFF2-40B4-BE49-F238E27FC236}">
                <a16:creationId xmlns:a16="http://schemas.microsoft.com/office/drawing/2014/main" id="{59FE77AE-0B36-7B17-19A7-3F0BBB65A845}"/>
              </a:ext>
            </a:extLst>
          </p:cNvPr>
          <p:cNvSpPr txBox="1"/>
          <p:nvPr/>
        </p:nvSpPr>
        <p:spPr>
          <a:xfrm>
            <a:off x="8327976" y="3857625"/>
            <a:ext cx="3092499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sz="1600" dirty="0"/>
              <a:t>The Admin Command Center securely streamlines daily workflows. Admins can easily manage 3D assets via simple URL links, while automated inventory and order tracking reduce manual overhead.</a:t>
            </a:r>
            <a:endParaRPr dirty="0"/>
          </a:p>
        </p:txBody>
      </p:sp>
      <p:pic>
        <p:nvPicPr>
          <p:cNvPr id="16" name="Google Shape;203;p18" descr="image.png">
            <a:extLst>
              <a:ext uri="{FF2B5EF4-FFF2-40B4-BE49-F238E27FC236}">
                <a16:creationId xmlns:a16="http://schemas.microsoft.com/office/drawing/2014/main" id="{01AA01B3-1E99-C85F-124A-2F39DEC52280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165152" y="244792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204;p18" descr="image.png">
            <a:extLst>
              <a:ext uri="{FF2B5EF4-FFF2-40B4-BE49-F238E27FC236}">
                <a16:creationId xmlns:a16="http://schemas.microsoft.com/office/drawing/2014/main" id="{7F0CCA81-A8B1-1D2B-0103-1C86695CC399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943452" y="244792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205;p18" descr="image.png">
            <a:extLst>
              <a:ext uri="{FF2B5EF4-FFF2-40B4-BE49-F238E27FC236}">
                <a16:creationId xmlns:a16="http://schemas.microsoft.com/office/drawing/2014/main" id="{14C7A7D5-B74C-B632-D14F-41405CF744A3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683651" y="2447925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207;p18">
            <a:extLst>
              <a:ext uri="{FF2B5EF4-FFF2-40B4-BE49-F238E27FC236}">
                <a16:creationId xmlns:a16="http://schemas.microsoft.com/office/drawing/2014/main" id="{C451AF60-E17D-56B6-657F-D23C505F5DF1}"/>
              </a:ext>
            </a:extLst>
          </p:cNvPr>
          <p:cNvSpPr/>
          <p:nvPr/>
        </p:nvSpPr>
        <p:spPr>
          <a:xfrm>
            <a:off x="571500" y="1381125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E3140C3-4DD6-8D48-500B-56FC14B7DD31}"/>
              </a:ext>
            </a:extLst>
          </p:cNvPr>
          <p:cNvSpPr txBox="1"/>
          <p:nvPr/>
        </p:nvSpPr>
        <p:spPr>
          <a:xfrm>
            <a:off x="571500" y="239015"/>
            <a:ext cx="6096000" cy="988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 dirty="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Feasibility</a:t>
            </a:r>
            <a:r>
              <a:rPr lang="en-US" sz="4000" b="1" i="0" u="none" strike="noStrike" cap="none" dirty="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Study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1670203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34;p20">
            <a:extLst>
              <a:ext uri="{FF2B5EF4-FFF2-40B4-BE49-F238E27FC236}">
                <a16:creationId xmlns:a16="http://schemas.microsoft.com/office/drawing/2014/main" id="{0A53E978-9D34-8F7E-A632-BDC007511E18}"/>
              </a:ext>
            </a:extLst>
          </p:cNvPr>
          <p:cNvSpPr txBox="1"/>
          <p:nvPr/>
        </p:nvSpPr>
        <p:spPr>
          <a:xfrm>
            <a:off x="571500" y="1381170"/>
            <a:ext cx="555069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2800" dirty="0"/>
              <a:t>Customer Experience</a:t>
            </a:r>
            <a:endParaRPr sz="2000" dirty="0"/>
          </a:p>
        </p:txBody>
      </p:sp>
      <p:sp>
        <p:nvSpPr>
          <p:cNvPr id="17" name="Google Shape;244;p20">
            <a:extLst>
              <a:ext uri="{FF2B5EF4-FFF2-40B4-BE49-F238E27FC236}">
                <a16:creationId xmlns:a16="http://schemas.microsoft.com/office/drawing/2014/main" id="{D9487264-C38D-E54B-F640-A4C24334EED3}"/>
              </a:ext>
            </a:extLst>
          </p:cNvPr>
          <p:cNvSpPr txBox="1"/>
          <p:nvPr/>
        </p:nvSpPr>
        <p:spPr>
          <a:xfrm>
            <a:off x="571500" y="213062"/>
            <a:ext cx="1160145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4400" b="1" dirty="0">
                <a:solidFill>
                  <a:srgbClr val="1E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Modules &amp; Functionality</a:t>
            </a:r>
            <a:endParaRPr sz="2400" b="1" dirty="0">
              <a:solidFill>
                <a:srgbClr val="1E3A8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Google Shape;245;p20">
            <a:extLst>
              <a:ext uri="{FF2B5EF4-FFF2-40B4-BE49-F238E27FC236}">
                <a16:creationId xmlns:a16="http://schemas.microsoft.com/office/drawing/2014/main" id="{EFD91F68-1BB7-9AE0-6F98-86343B3CCB05}"/>
              </a:ext>
            </a:extLst>
          </p:cNvPr>
          <p:cNvSpPr/>
          <p:nvPr/>
        </p:nvSpPr>
        <p:spPr>
          <a:xfrm>
            <a:off x="571500" y="1200150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735D5B2-C2C4-C8C3-3339-0A2778F2C95F}"/>
              </a:ext>
            </a:extLst>
          </p:cNvPr>
          <p:cNvSpPr txBox="1"/>
          <p:nvPr/>
        </p:nvSpPr>
        <p:spPr>
          <a:xfrm>
            <a:off x="571500" y="2304252"/>
            <a:ext cx="4659719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 Virtual Try-On Engine: The core innovation. Uses webcam access and </a:t>
            </a:r>
            <a:r>
              <a:rPr lang="en-US" sz="2000" dirty="0" err="1"/>
              <a:t>MediaPipe</a:t>
            </a:r>
            <a:r>
              <a:rPr lang="en-US" sz="2000" dirty="0"/>
              <a:t> AI to map clothing onto users in real-time.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 Product Discovery: Advanced, zero-reload filtering (by category, size, color, price) for seamless catalog browsing.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 Cart &amp; Checkout: Persistent shopping cart with secure payment gateway integration (</a:t>
            </a:r>
            <a:r>
              <a:rPr lang="en-US" sz="2000" dirty="0" err="1"/>
              <a:t>Razorpay</a:t>
            </a:r>
            <a:r>
              <a:rPr lang="en-US" sz="2000" dirty="0"/>
              <a:t>) and automated invoice generation.</a:t>
            </a:r>
          </a:p>
        </p:txBody>
      </p:sp>
      <p:sp>
        <p:nvSpPr>
          <p:cNvPr id="22" name="Google Shape;234;p20">
            <a:extLst>
              <a:ext uri="{FF2B5EF4-FFF2-40B4-BE49-F238E27FC236}">
                <a16:creationId xmlns:a16="http://schemas.microsoft.com/office/drawing/2014/main" id="{084F76D5-69D0-6CBB-289A-A7BD5B8C1AFB}"/>
              </a:ext>
            </a:extLst>
          </p:cNvPr>
          <p:cNvSpPr txBox="1"/>
          <p:nvPr/>
        </p:nvSpPr>
        <p:spPr>
          <a:xfrm>
            <a:off x="6122193" y="1381169"/>
            <a:ext cx="555069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2800" dirty="0"/>
              <a:t>Admin &amp; Staff Operations</a:t>
            </a:r>
            <a:endParaRPr sz="2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03B8A5-809D-F83D-FA45-6739539C0E90}"/>
              </a:ext>
            </a:extLst>
          </p:cNvPr>
          <p:cNvSpPr txBox="1"/>
          <p:nvPr/>
        </p:nvSpPr>
        <p:spPr>
          <a:xfrm>
            <a:off x="6096000" y="2304252"/>
            <a:ext cx="5312735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 Catalog Management: Full CRUD authority over products. Crucially, admins manage the GitHub raw URLs for the 3D .</a:t>
            </a:r>
            <a:r>
              <a:rPr lang="en-US" sz="2000" dirty="0" err="1"/>
              <a:t>glb</a:t>
            </a:r>
            <a:r>
              <a:rPr lang="en-US" sz="2000" dirty="0"/>
              <a:t> assets.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 Order Fulfillment: Tools to track shipments, update logistics statuses, and manage dynamic inventory levels.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 Business Dashboard: Real-time analytics tracking revenue, sales volume, and the reduction in return rates.</a:t>
            </a:r>
          </a:p>
        </p:txBody>
      </p:sp>
    </p:spTree>
    <p:extLst>
      <p:ext uri="{BB962C8B-B14F-4D97-AF65-F5344CB8AC3E}">
        <p14:creationId xmlns:p14="http://schemas.microsoft.com/office/powerpoint/2010/main" val="2409373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DE430-FC9B-5426-A631-5E0EDE4B6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244;p20">
            <a:extLst>
              <a:ext uri="{FF2B5EF4-FFF2-40B4-BE49-F238E27FC236}">
                <a16:creationId xmlns:a16="http://schemas.microsoft.com/office/drawing/2014/main" id="{3023DE2E-7F68-AC33-A9EB-6C5CA01D6282}"/>
              </a:ext>
            </a:extLst>
          </p:cNvPr>
          <p:cNvSpPr txBox="1"/>
          <p:nvPr/>
        </p:nvSpPr>
        <p:spPr>
          <a:xfrm>
            <a:off x="571500" y="213062"/>
            <a:ext cx="1160145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4400" dirty="0">
                <a:solidFill>
                  <a:srgbClr val="1E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&amp; Flow</a:t>
            </a:r>
            <a:endParaRPr sz="2400" b="1" dirty="0">
              <a:solidFill>
                <a:srgbClr val="1E3A8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Google Shape;245;p20">
            <a:extLst>
              <a:ext uri="{FF2B5EF4-FFF2-40B4-BE49-F238E27FC236}">
                <a16:creationId xmlns:a16="http://schemas.microsoft.com/office/drawing/2014/main" id="{BE2F54EA-B5D9-4266-EF80-F5FB0BFB9424}"/>
              </a:ext>
            </a:extLst>
          </p:cNvPr>
          <p:cNvSpPr/>
          <p:nvPr/>
        </p:nvSpPr>
        <p:spPr>
          <a:xfrm>
            <a:off x="571500" y="1200150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1263E9-F6C6-91E0-A088-F57CE7D8893A}"/>
              </a:ext>
            </a:extLst>
          </p:cNvPr>
          <p:cNvSpPr txBox="1"/>
          <p:nvPr/>
        </p:nvSpPr>
        <p:spPr>
          <a:xfrm>
            <a:off x="432280" y="2352899"/>
            <a:ext cx="5809032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 Client Side (Front-End): React.js manages dynamic SPA views and state, styled flawlessly with Tailwind CSS. It integrates @react-three/fiber and </a:t>
            </a:r>
            <a:r>
              <a:rPr lang="en-US" sz="2000" dirty="0" err="1"/>
              <a:t>MediaPipe</a:t>
            </a:r>
            <a:r>
              <a:rPr lang="en-US" sz="2000" dirty="0"/>
              <a:t> AI for the real-time 3D Virtual Try-On engine.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 Server Side (Back-End): Node.js provides a fast, asynchronous runtime while Express.js handles secure RESTful API routing, JWT authentication, and strict CORS policies.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Database Layer: MongoDB utilizes a flexible NoSQL schema to scale complex clothing variants (sizes, stock) and securely store GitHub raw URLs for 3D .</a:t>
            </a:r>
            <a:r>
              <a:rPr lang="en-US" sz="2000" dirty="0" err="1"/>
              <a:t>glb</a:t>
            </a:r>
            <a:r>
              <a:rPr lang="en-US" sz="2000" dirty="0"/>
              <a:t> assets.</a:t>
            </a:r>
          </a:p>
        </p:txBody>
      </p:sp>
      <p:sp>
        <p:nvSpPr>
          <p:cNvPr id="22" name="Google Shape;234;p20">
            <a:extLst>
              <a:ext uri="{FF2B5EF4-FFF2-40B4-BE49-F238E27FC236}">
                <a16:creationId xmlns:a16="http://schemas.microsoft.com/office/drawing/2014/main" id="{86DBAAC1-8CBE-3778-796E-30E8D44DEC98}"/>
              </a:ext>
            </a:extLst>
          </p:cNvPr>
          <p:cNvSpPr txBox="1"/>
          <p:nvPr/>
        </p:nvSpPr>
        <p:spPr>
          <a:xfrm>
            <a:off x="571501" y="1381169"/>
            <a:ext cx="11101386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US" dirty="0"/>
              <a:t>Thread Theory is built upon the high-performance </a:t>
            </a:r>
            <a:r>
              <a:rPr lang="en-US" b="1" dirty="0"/>
              <a:t>MERN Stack</a:t>
            </a:r>
            <a:r>
              <a:rPr lang="en-US" dirty="0"/>
              <a:t> architecture, integrated with advanced WebGL and AI tools:</a:t>
            </a:r>
            <a:endParaRPr sz="1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F2E0E77-042C-61D5-9AA0-714277D1540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023690" y="1904641"/>
            <a:ext cx="4596809" cy="4636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087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006D1F-AD34-EE6E-D061-A5B274BBCC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993" y="870061"/>
            <a:ext cx="4452011" cy="13008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43AA195-89A5-1981-1601-AE51308793F8}"/>
              </a:ext>
            </a:extLst>
          </p:cNvPr>
          <p:cNvSpPr txBox="1"/>
          <p:nvPr/>
        </p:nvSpPr>
        <p:spPr>
          <a:xfrm>
            <a:off x="209993" y="134590"/>
            <a:ext cx="60977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rgbClr val="1E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Dataflow Diagram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63B6EAE-1D85-F11B-FA68-C63DF30A90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993" y="2393865"/>
            <a:ext cx="4410421" cy="38899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E7FBC93-057B-7FCB-61B5-34740B6810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0414" y="162213"/>
            <a:ext cx="3238006" cy="351148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CC353B5-3393-E398-B018-8A04C4E7ED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2004" y="3673700"/>
            <a:ext cx="3439169" cy="292227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F34FC34-5939-17E8-2526-99C986AF6B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1173" y="134590"/>
            <a:ext cx="3526352" cy="300216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AF7F57F-A81C-B2B8-F266-5D820755E90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2763" y="3264046"/>
            <a:ext cx="3686389" cy="3197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659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F844437-2909-9830-A244-00EFBC033B28}"/>
              </a:ext>
            </a:extLst>
          </p:cNvPr>
          <p:cNvSpPr txBox="1"/>
          <p:nvPr/>
        </p:nvSpPr>
        <p:spPr>
          <a:xfrm>
            <a:off x="280574" y="72215"/>
            <a:ext cx="430471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300" b="1" dirty="0">
                <a:solidFill>
                  <a:srgbClr val="1E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</a:t>
            </a:r>
          </a:p>
        </p:txBody>
      </p:sp>
      <p:pic>
        <p:nvPicPr>
          <p:cNvPr id="132" name="Picture 131">
            <a:extLst>
              <a:ext uri="{FF2B5EF4-FFF2-40B4-BE49-F238E27FC236}">
                <a16:creationId xmlns:a16="http://schemas.microsoft.com/office/drawing/2014/main" id="{399A15B2-399E-6623-52AC-4E5008BCBF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03" y="645075"/>
            <a:ext cx="5626841" cy="6193632"/>
          </a:xfrm>
          <a:prstGeom prst="rect">
            <a:avLst/>
          </a:prstGeom>
        </p:spPr>
      </p:pic>
      <p:pic>
        <p:nvPicPr>
          <p:cNvPr id="134" name="Picture 133">
            <a:extLst>
              <a:ext uri="{FF2B5EF4-FFF2-40B4-BE49-F238E27FC236}">
                <a16:creationId xmlns:a16="http://schemas.microsoft.com/office/drawing/2014/main" id="{E734E269-AB1F-765F-D0E2-DC6E8C5E75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342049"/>
            <a:ext cx="5487694" cy="4799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607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75084F5A-A574-A58D-7D36-9BCD5D348D21}"/>
              </a:ext>
            </a:extLst>
          </p:cNvPr>
          <p:cNvSpPr txBox="1"/>
          <p:nvPr/>
        </p:nvSpPr>
        <p:spPr>
          <a:xfrm>
            <a:off x="304800" y="221734"/>
            <a:ext cx="74803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0" i="0" dirty="0">
                <a:solidFill>
                  <a:srgbClr val="1E3A8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Architecture (ER Diagram)</a:t>
            </a:r>
            <a:endParaRPr lang="en-BS" sz="4400" dirty="0">
              <a:solidFill>
                <a:srgbClr val="1E3A8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BA4B79E-BB0C-9C96-F51D-2ED22884523F}"/>
              </a:ext>
            </a:extLst>
          </p:cNvPr>
          <p:cNvSpPr txBox="1"/>
          <p:nvPr/>
        </p:nvSpPr>
        <p:spPr>
          <a:xfrm>
            <a:off x="304800" y="1213535"/>
            <a:ext cx="6731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dirty="0">
                <a:solidFill>
                  <a:srgbClr val="334155"/>
                </a:solidFill>
                <a:effectLst/>
                <a:latin typeface="Inter"/>
              </a:rPr>
              <a:t>Visualizing entities, relationships, and data flow within the MongoDB ecosystem.</a:t>
            </a:r>
            <a:endParaRPr lang="en-BS" sz="2000" dirty="0">
              <a:solidFill>
                <a:srgbClr val="334155"/>
              </a:solidFill>
            </a:endParaRPr>
          </a:p>
        </p:txBody>
      </p:sp>
      <p:sp>
        <p:nvSpPr>
          <p:cNvPr id="28" name="Google Shape;245;p20">
            <a:extLst>
              <a:ext uri="{FF2B5EF4-FFF2-40B4-BE49-F238E27FC236}">
                <a16:creationId xmlns:a16="http://schemas.microsoft.com/office/drawing/2014/main" id="{74350F8B-BCA3-BC82-34F7-47A7518C85F8}"/>
              </a:ext>
            </a:extLst>
          </p:cNvPr>
          <p:cNvSpPr/>
          <p:nvPr/>
        </p:nvSpPr>
        <p:spPr>
          <a:xfrm>
            <a:off x="444500" y="1041127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22AEB7E8-C4A7-96DB-D0A1-27E7563259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34710" y="1803859"/>
            <a:ext cx="5322580" cy="4832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0502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Google Shape;365;p26">
            <a:extLst>
              <a:ext uri="{FF2B5EF4-FFF2-40B4-BE49-F238E27FC236}">
                <a16:creationId xmlns:a16="http://schemas.microsoft.com/office/drawing/2014/main" id="{7DB519BC-62F7-6766-709F-49AA07569CD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82217731"/>
              </p:ext>
            </p:extLst>
          </p:nvPr>
        </p:nvGraphicFramePr>
        <p:xfrm>
          <a:off x="567891" y="1597092"/>
          <a:ext cx="11052609" cy="334322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549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26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50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Collection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Key Fields (JSON Documents)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Purpose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_id, name, email, password (hashed), role, measurements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Manages authentication, access control, and stores preferences for Try-On logic.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Product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_id, name, price, stock, images, model3D_url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Stores the WATCHERA dynamic watch catalog and links to Three.js JSON/OBJ files.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Order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_id, </a:t>
                      </a:r>
                      <a:r>
                        <a:rPr lang="en-US" sz="1200" b="0" i="0" u="none" strike="noStrike" cap="none" dirty="0" err="1">
                          <a:solidFill>
                            <a:srgbClr val="334155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user_ref</a:t>
                      </a: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, items, </a:t>
                      </a:r>
                      <a:r>
                        <a:rPr lang="en-US" sz="1200" b="0" i="0" u="none" strike="noStrike" cap="none" dirty="0" err="1">
                          <a:solidFill>
                            <a:srgbClr val="334155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shippingAddress</a:t>
                      </a: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, </a:t>
                      </a:r>
                      <a:r>
                        <a:rPr lang="en-US" sz="1200" b="0" i="0" u="none" strike="noStrike" cap="none" dirty="0" err="1">
                          <a:solidFill>
                            <a:srgbClr val="334155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totalPrice</a:t>
                      </a: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, status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Tracks customer purchases, delivery status, and order history</a:t>
                      </a: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rgbClr val="334155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Payment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_id, </a:t>
                      </a:r>
                      <a:r>
                        <a:rPr lang="en-US" sz="1200" b="0" i="0" u="none" strike="noStrike" cap="none" dirty="0" err="1">
                          <a:solidFill>
                            <a:srgbClr val="334155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order_ref</a:t>
                      </a: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, </a:t>
                      </a:r>
                      <a:r>
                        <a:rPr lang="en-US" sz="1200" b="0" i="0" u="none" strike="noStrike" cap="none" dirty="0" err="1">
                          <a:solidFill>
                            <a:srgbClr val="334155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transactionId</a:t>
                      </a: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, method, amount, status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Securely logs payment authorizations and captures success details</a:t>
                      </a: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rgbClr val="334155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Cart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_id, </a:t>
                      </a:r>
                      <a:r>
                        <a:rPr lang="en-US" sz="1200" b="0" i="0" u="none" strike="noStrike" cap="none" dirty="0" err="1">
                          <a:solidFill>
                            <a:srgbClr val="334155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user_ref</a:t>
                      </a: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, products Array(id, quantity)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Maintains persistent, reload-free shopping carts for users.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Google Shape;366;p26">
            <a:extLst>
              <a:ext uri="{FF2B5EF4-FFF2-40B4-BE49-F238E27FC236}">
                <a16:creationId xmlns:a16="http://schemas.microsoft.com/office/drawing/2014/main" id="{07DD0EC8-D01B-38DD-E075-61FC328E512A}"/>
              </a:ext>
            </a:extLst>
          </p:cNvPr>
          <p:cNvSpPr/>
          <p:nvPr/>
        </p:nvSpPr>
        <p:spPr>
          <a:xfrm>
            <a:off x="571500" y="2211454"/>
            <a:ext cx="15784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367;p26">
            <a:extLst>
              <a:ext uri="{FF2B5EF4-FFF2-40B4-BE49-F238E27FC236}">
                <a16:creationId xmlns:a16="http://schemas.microsoft.com/office/drawing/2014/main" id="{3F839449-9961-0503-AC5E-EC009C516AF9}"/>
              </a:ext>
            </a:extLst>
          </p:cNvPr>
          <p:cNvSpPr/>
          <p:nvPr/>
        </p:nvSpPr>
        <p:spPr>
          <a:xfrm>
            <a:off x="2149971" y="2211454"/>
            <a:ext cx="50202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368;p26">
            <a:extLst>
              <a:ext uri="{FF2B5EF4-FFF2-40B4-BE49-F238E27FC236}">
                <a16:creationId xmlns:a16="http://schemas.microsoft.com/office/drawing/2014/main" id="{0AF6D4FC-2F99-5846-074E-69E3BD8886EB}"/>
              </a:ext>
            </a:extLst>
          </p:cNvPr>
          <p:cNvSpPr/>
          <p:nvPr/>
        </p:nvSpPr>
        <p:spPr>
          <a:xfrm>
            <a:off x="7170241" y="2211454"/>
            <a:ext cx="44502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369;p26">
            <a:extLst>
              <a:ext uri="{FF2B5EF4-FFF2-40B4-BE49-F238E27FC236}">
                <a16:creationId xmlns:a16="http://schemas.microsoft.com/office/drawing/2014/main" id="{453FCA3A-9037-16C8-13C0-5FAD4C4B9357}"/>
              </a:ext>
            </a:extLst>
          </p:cNvPr>
          <p:cNvSpPr/>
          <p:nvPr/>
        </p:nvSpPr>
        <p:spPr>
          <a:xfrm>
            <a:off x="571500" y="2754379"/>
            <a:ext cx="15784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370;p26">
            <a:extLst>
              <a:ext uri="{FF2B5EF4-FFF2-40B4-BE49-F238E27FC236}">
                <a16:creationId xmlns:a16="http://schemas.microsoft.com/office/drawing/2014/main" id="{D5C317D5-4C2E-F5D2-FB7F-E43714F30240}"/>
              </a:ext>
            </a:extLst>
          </p:cNvPr>
          <p:cNvSpPr/>
          <p:nvPr/>
        </p:nvSpPr>
        <p:spPr>
          <a:xfrm>
            <a:off x="2149971" y="2754379"/>
            <a:ext cx="50202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371;p26">
            <a:extLst>
              <a:ext uri="{FF2B5EF4-FFF2-40B4-BE49-F238E27FC236}">
                <a16:creationId xmlns:a16="http://schemas.microsoft.com/office/drawing/2014/main" id="{5FD664A7-03BD-F43F-CD9C-88CFB370AAE8}"/>
              </a:ext>
            </a:extLst>
          </p:cNvPr>
          <p:cNvSpPr/>
          <p:nvPr/>
        </p:nvSpPr>
        <p:spPr>
          <a:xfrm>
            <a:off x="7170241" y="2754379"/>
            <a:ext cx="44502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372;p26">
            <a:extLst>
              <a:ext uri="{FF2B5EF4-FFF2-40B4-BE49-F238E27FC236}">
                <a16:creationId xmlns:a16="http://schemas.microsoft.com/office/drawing/2014/main" id="{0F7B98B7-82A5-B7A4-1FDE-F28059FFD86F}"/>
              </a:ext>
            </a:extLst>
          </p:cNvPr>
          <p:cNvSpPr/>
          <p:nvPr/>
        </p:nvSpPr>
        <p:spPr>
          <a:xfrm>
            <a:off x="571500" y="3297304"/>
            <a:ext cx="15784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373;p26">
            <a:extLst>
              <a:ext uri="{FF2B5EF4-FFF2-40B4-BE49-F238E27FC236}">
                <a16:creationId xmlns:a16="http://schemas.microsoft.com/office/drawing/2014/main" id="{147717EB-8EFE-F486-DDBA-6F9C977FCC51}"/>
              </a:ext>
            </a:extLst>
          </p:cNvPr>
          <p:cNvSpPr/>
          <p:nvPr/>
        </p:nvSpPr>
        <p:spPr>
          <a:xfrm>
            <a:off x="2149971" y="3297304"/>
            <a:ext cx="50202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374;p26">
            <a:extLst>
              <a:ext uri="{FF2B5EF4-FFF2-40B4-BE49-F238E27FC236}">
                <a16:creationId xmlns:a16="http://schemas.microsoft.com/office/drawing/2014/main" id="{70F5B4AA-3D17-6F23-C3A6-64D63760D9FC}"/>
              </a:ext>
            </a:extLst>
          </p:cNvPr>
          <p:cNvSpPr/>
          <p:nvPr/>
        </p:nvSpPr>
        <p:spPr>
          <a:xfrm>
            <a:off x="7170241" y="3297304"/>
            <a:ext cx="44502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375;p26">
            <a:extLst>
              <a:ext uri="{FF2B5EF4-FFF2-40B4-BE49-F238E27FC236}">
                <a16:creationId xmlns:a16="http://schemas.microsoft.com/office/drawing/2014/main" id="{96556E1C-8E11-ECD9-0672-656D848C6932}"/>
              </a:ext>
            </a:extLst>
          </p:cNvPr>
          <p:cNvSpPr/>
          <p:nvPr/>
        </p:nvSpPr>
        <p:spPr>
          <a:xfrm>
            <a:off x="571500" y="3840229"/>
            <a:ext cx="15784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376;p26">
            <a:extLst>
              <a:ext uri="{FF2B5EF4-FFF2-40B4-BE49-F238E27FC236}">
                <a16:creationId xmlns:a16="http://schemas.microsoft.com/office/drawing/2014/main" id="{00676627-B8AD-C08C-686B-6518F9657E70}"/>
              </a:ext>
            </a:extLst>
          </p:cNvPr>
          <p:cNvSpPr/>
          <p:nvPr/>
        </p:nvSpPr>
        <p:spPr>
          <a:xfrm>
            <a:off x="2149971" y="3840229"/>
            <a:ext cx="50202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377;p26">
            <a:extLst>
              <a:ext uri="{FF2B5EF4-FFF2-40B4-BE49-F238E27FC236}">
                <a16:creationId xmlns:a16="http://schemas.microsoft.com/office/drawing/2014/main" id="{33E5E67B-6AB5-E403-059D-0279AD97E44F}"/>
              </a:ext>
            </a:extLst>
          </p:cNvPr>
          <p:cNvSpPr/>
          <p:nvPr/>
        </p:nvSpPr>
        <p:spPr>
          <a:xfrm>
            <a:off x="7170241" y="3840229"/>
            <a:ext cx="44502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378;p26">
            <a:extLst>
              <a:ext uri="{FF2B5EF4-FFF2-40B4-BE49-F238E27FC236}">
                <a16:creationId xmlns:a16="http://schemas.microsoft.com/office/drawing/2014/main" id="{66A31680-2971-CCD2-E06F-7B512986E048}"/>
              </a:ext>
            </a:extLst>
          </p:cNvPr>
          <p:cNvSpPr/>
          <p:nvPr/>
        </p:nvSpPr>
        <p:spPr>
          <a:xfrm>
            <a:off x="571500" y="4383154"/>
            <a:ext cx="15784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379;p26">
            <a:extLst>
              <a:ext uri="{FF2B5EF4-FFF2-40B4-BE49-F238E27FC236}">
                <a16:creationId xmlns:a16="http://schemas.microsoft.com/office/drawing/2014/main" id="{CFADB302-EED0-6CAA-5EB5-0960C33488E0}"/>
              </a:ext>
            </a:extLst>
          </p:cNvPr>
          <p:cNvSpPr/>
          <p:nvPr/>
        </p:nvSpPr>
        <p:spPr>
          <a:xfrm>
            <a:off x="2149971" y="4383154"/>
            <a:ext cx="50202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380;p26">
            <a:extLst>
              <a:ext uri="{FF2B5EF4-FFF2-40B4-BE49-F238E27FC236}">
                <a16:creationId xmlns:a16="http://schemas.microsoft.com/office/drawing/2014/main" id="{14336C91-7ED7-BB9C-A36C-14240AF288AE}"/>
              </a:ext>
            </a:extLst>
          </p:cNvPr>
          <p:cNvSpPr/>
          <p:nvPr/>
        </p:nvSpPr>
        <p:spPr>
          <a:xfrm>
            <a:off x="7170241" y="4383154"/>
            <a:ext cx="44502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381;p26">
            <a:extLst>
              <a:ext uri="{FF2B5EF4-FFF2-40B4-BE49-F238E27FC236}">
                <a16:creationId xmlns:a16="http://schemas.microsoft.com/office/drawing/2014/main" id="{EA621B4A-F0B4-3068-FD59-F89FAD6D904E}"/>
              </a:ext>
            </a:extLst>
          </p:cNvPr>
          <p:cNvSpPr/>
          <p:nvPr/>
        </p:nvSpPr>
        <p:spPr>
          <a:xfrm>
            <a:off x="571500" y="4926079"/>
            <a:ext cx="15784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382;p26">
            <a:extLst>
              <a:ext uri="{FF2B5EF4-FFF2-40B4-BE49-F238E27FC236}">
                <a16:creationId xmlns:a16="http://schemas.microsoft.com/office/drawing/2014/main" id="{22947965-0DCC-5826-48C6-50BFB65A81D2}"/>
              </a:ext>
            </a:extLst>
          </p:cNvPr>
          <p:cNvSpPr/>
          <p:nvPr/>
        </p:nvSpPr>
        <p:spPr>
          <a:xfrm>
            <a:off x="2149971" y="4926079"/>
            <a:ext cx="50202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383;p26">
            <a:extLst>
              <a:ext uri="{FF2B5EF4-FFF2-40B4-BE49-F238E27FC236}">
                <a16:creationId xmlns:a16="http://schemas.microsoft.com/office/drawing/2014/main" id="{4833088B-615C-3503-E7ED-9B357748D46D}"/>
              </a:ext>
            </a:extLst>
          </p:cNvPr>
          <p:cNvSpPr/>
          <p:nvPr/>
        </p:nvSpPr>
        <p:spPr>
          <a:xfrm>
            <a:off x="7170241" y="4926079"/>
            <a:ext cx="44502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384;p26">
            <a:extLst>
              <a:ext uri="{FF2B5EF4-FFF2-40B4-BE49-F238E27FC236}">
                <a16:creationId xmlns:a16="http://schemas.microsoft.com/office/drawing/2014/main" id="{47EE6215-4A0E-E96B-BD34-3980F27387B4}"/>
              </a:ext>
            </a:extLst>
          </p:cNvPr>
          <p:cNvSpPr txBox="1"/>
          <p:nvPr/>
        </p:nvSpPr>
        <p:spPr>
          <a:xfrm>
            <a:off x="571500" y="476250"/>
            <a:ext cx="11601450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Design (MongoDB Collections)</a:t>
            </a:r>
            <a:endParaRPr/>
          </a:p>
        </p:txBody>
      </p:sp>
      <p:sp>
        <p:nvSpPr>
          <p:cNvPr id="26" name="Google Shape;385;p26">
            <a:extLst>
              <a:ext uri="{FF2B5EF4-FFF2-40B4-BE49-F238E27FC236}">
                <a16:creationId xmlns:a16="http://schemas.microsoft.com/office/drawing/2014/main" id="{0D6AE326-FD15-BEA3-0F0F-C70994FDBE9E}"/>
              </a:ext>
            </a:extLst>
          </p:cNvPr>
          <p:cNvSpPr/>
          <p:nvPr/>
        </p:nvSpPr>
        <p:spPr>
          <a:xfrm>
            <a:off x="571500" y="1200150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697A9132-B1DE-90B5-9CA0-3763793E36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4730357"/>
              </p:ext>
            </p:extLst>
          </p:nvPr>
        </p:nvGraphicFramePr>
        <p:xfrm>
          <a:off x="567891" y="4866504"/>
          <a:ext cx="11052609" cy="111442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582084">
                  <a:extLst>
                    <a:ext uri="{9D8B030D-6E8A-4147-A177-3AD203B41FA5}">
                      <a16:colId xmlns:a16="http://schemas.microsoft.com/office/drawing/2014/main" val="1448087775"/>
                    </a:ext>
                  </a:extLst>
                </a:gridCol>
                <a:gridCol w="5020275">
                  <a:extLst>
                    <a:ext uri="{9D8B030D-6E8A-4147-A177-3AD203B41FA5}">
                      <a16:colId xmlns:a16="http://schemas.microsoft.com/office/drawing/2014/main" val="456641018"/>
                    </a:ext>
                  </a:extLst>
                </a:gridCol>
                <a:gridCol w="4450250">
                  <a:extLst>
                    <a:ext uri="{9D8B030D-6E8A-4147-A177-3AD203B41FA5}">
                      <a16:colId xmlns:a16="http://schemas.microsoft.com/office/drawing/2014/main" val="1056119316"/>
                    </a:ext>
                  </a:extLst>
                </a:gridCol>
              </a:tblGrid>
              <a:tr h="5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rgbClr val="334155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Review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_id, </a:t>
                      </a:r>
                      <a:r>
                        <a:rPr lang="en-US" sz="1200" b="0" i="0" u="none" strike="noStrike" cap="none" dirty="0" err="1">
                          <a:solidFill>
                            <a:srgbClr val="334155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product_ref</a:t>
                      </a: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, </a:t>
                      </a:r>
                      <a:r>
                        <a:rPr lang="en-US" sz="1200" b="0" i="0" u="none" strike="noStrike" cap="none" dirty="0" err="1">
                          <a:solidFill>
                            <a:srgbClr val="334155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user_ref</a:t>
                      </a: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, rating, comment, </a:t>
                      </a:r>
                      <a:r>
                        <a:rPr lang="en-US" sz="1200" b="0" i="0" u="none" strike="noStrike" cap="none" dirty="0" err="1">
                          <a:solidFill>
                            <a:srgbClr val="334155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createdAt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Stores customer feedback and star ratings for specific watch models to build trust and social proof.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7003190"/>
                  </a:ext>
                </a:extLst>
              </a:tr>
              <a:tr h="55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rgbClr val="334155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Coupons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_id, code, </a:t>
                      </a:r>
                      <a:r>
                        <a:rPr lang="en-US" sz="1200" b="0" i="0" u="none" strike="noStrike" cap="none" dirty="0" err="1">
                          <a:solidFill>
                            <a:srgbClr val="334155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discountType</a:t>
                      </a: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, </a:t>
                      </a:r>
                      <a:r>
                        <a:rPr lang="en-US" sz="1200" b="0" i="0" u="none" strike="noStrike" cap="none" dirty="0" err="1">
                          <a:solidFill>
                            <a:srgbClr val="334155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discountValue</a:t>
                      </a: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, </a:t>
                      </a:r>
                      <a:r>
                        <a:rPr lang="en-US" sz="1200" b="0" i="0" u="none" strike="noStrike" cap="none" dirty="0" err="1">
                          <a:solidFill>
                            <a:srgbClr val="334155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expiryDate</a:t>
                      </a: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, </a:t>
                      </a:r>
                      <a:r>
                        <a:rPr lang="en-US" sz="1200" b="0" i="0" u="none" strike="noStrike" cap="none" dirty="0" err="1">
                          <a:solidFill>
                            <a:srgbClr val="334155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isActive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Manages promotional codes and automatically validates/applies discounts during the checkout process.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89291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67952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94;p27">
            <a:extLst>
              <a:ext uri="{FF2B5EF4-FFF2-40B4-BE49-F238E27FC236}">
                <a16:creationId xmlns:a16="http://schemas.microsoft.com/office/drawing/2014/main" id="{7676A7B3-C6BC-F310-CEF2-329B0B2B5C53}"/>
              </a:ext>
            </a:extLst>
          </p:cNvPr>
          <p:cNvSpPr txBox="1"/>
          <p:nvPr/>
        </p:nvSpPr>
        <p:spPr>
          <a:xfrm>
            <a:off x="6519490" y="928094"/>
            <a:ext cx="5389378" cy="1523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Component-Based: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Developed a modular frontend using React.js, creating reusable UI components for dynamic product cards, navigation, and state management to ensure a fast, seamless single-page application (SPA) experience..</a:t>
            </a:r>
            <a:endParaRPr dirty="0"/>
          </a:p>
        </p:txBody>
      </p:sp>
      <p:sp>
        <p:nvSpPr>
          <p:cNvPr id="8" name="Google Shape;395;p27">
            <a:extLst>
              <a:ext uri="{FF2B5EF4-FFF2-40B4-BE49-F238E27FC236}">
                <a16:creationId xmlns:a16="http://schemas.microsoft.com/office/drawing/2014/main" id="{42A273A3-EFD2-5ABF-E650-03702245322D}"/>
              </a:ext>
            </a:extLst>
          </p:cNvPr>
          <p:cNvSpPr txBox="1"/>
          <p:nvPr/>
        </p:nvSpPr>
        <p:spPr>
          <a:xfrm>
            <a:off x="6519490" y="2451588"/>
            <a:ext cx="5389378" cy="1523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Premium Aesthetic: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Utilized Tailwind CSS to establish a sophisticated "dark mode" luxury theme, accented with elegant gold tones, crisp typography, and smooth transitions fitting the WATCHERA brand.</a:t>
            </a:r>
            <a:endParaRPr dirty="0"/>
          </a:p>
        </p:txBody>
      </p:sp>
      <p:sp>
        <p:nvSpPr>
          <p:cNvPr id="9" name="Google Shape;396;p27">
            <a:extLst>
              <a:ext uri="{FF2B5EF4-FFF2-40B4-BE49-F238E27FC236}">
                <a16:creationId xmlns:a16="http://schemas.microsoft.com/office/drawing/2014/main" id="{3FAFBE2F-DDC1-66E0-0C47-3E384DC94234}"/>
              </a:ext>
            </a:extLst>
          </p:cNvPr>
          <p:cNvSpPr txBox="1"/>
          <p:nvPr/>
        </p:nvSpPr>
        <p:spPr>
          <a:xfrm>
            <a:off x="6519490" y="3975082"/>
            <a:ext cx="5389378" cy="1523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Responsive Layout: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Integrated Three.js to render interactive 3D luxury watch models directly in the browser, while ensuring the entire digital storefront adapts flawlessly across desktop, tablet, and mobile devices.</a:t>
            </a:r>
            <a:endParaRPr dirty="0"/>
          </a:p>
        </p:txBody>
      </p:sp>
      <p:sp>
        <p:nvSpPr>
          <p:cNvPr id="10" name="Google Shape;397;p27">
            <a:extLst>
              <a:ext uri="{FF2B5EF4-FFF2-40B4-BE49-F238E27FC236}">
                <a16:creationId xmlns:a16="http://schemas.microsoft.com/office/drawing/2014/main" id="{41DF040F-76CA-D575-D6F4-32FE5AE01EDA}"/>
              </a:ext>
            </a:extLst>
          </p:cNvPr>
          <p:cNvSpPr txBox="1"/>
          <p:nvPr/>
        </p:nvSpPr>
        <p:spPr>
          <a:xfrm>
            <a:off x="6519490" y="5501345"/>
            <a:ext cx="5336618" cy="1142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Secure API Routing: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Configured Node.js and Express.js endpoints to securely handle data requests, product filtering, and seamless frontend-to-backend communication.</a:t>
            </a:r>
            <a:endParaRPr dirty="0"/>
          </a:p>
        </p:txBody>
      </p:sp>
      <p:pic>
        <p:nvPicPr>
          <p:cNvPr id="11" name="Google Shape;398;p27" descr="image.png">
            <a:extLst>
              <a:ext uri="{FF2B5EF4-FFF2-40B4-BE49-F238E27FC236}">
                <a16:creationId xmlns:a16="http://schemas.microsoft.com/office/drawing/2014/main" id="{66FCCC0A-B6A4-3911-486F-7EA559EE7E0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93805" y="1028700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399;p27" descr="image.png">
            <a:extLst>
              <a:ext uri="{FF2B5EF4-FFF2-40B4-BE49-F238E27FC236}">
                <a16:creationId xmlns:a16="http://schemas.microsoft.com/office/drawing/2014/main" id="{D0994527-CC20-4510-F504-E41FE6FC3A6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9806" y="2503926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400;p27" descr="image.png">
            <a:extLst>
              <a:ext uri="{FF2B5EF4-FFF2-40B4-BE49-F238E27FC236}">
                <a16:creationId xmlns:a16="http://schemas.microsoft.com/office/drawing/2014/main" id="{15CE95E8-64A2-A232-5690-B2C82D582CB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3805" y="4052887"/>
            <a:ext cx="1714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402;p27">
            <a:extLst>
              <a:ext uri="{FF2B5EF4-FFF2-40B4-BE49-F238E27FC236}">
                <a16:creationId xmlns:a16="http://schemas.microsoft.com/office/drawing/2014/main" id="{045A5AC0-240A-3117-78A1-10401D40099D}"/>
              </a:ext>
            </a:extLst>
          </p:cNvPr>
          <p:cNvSpPr txBox="1"/>
          <p:nvPr/>
        </p:nvSpPr>
        <p:spPr>
          <a:xfrm>
            <a:off x="571500" y="109537"/>
            <a:ext cx="11601450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 &amp; UI Details</a:t>
            </a:r>
            <a:endParaRPr dirty="0"/>
          </a:p>
        </p:txBody>
      </p:sp>
      <p:sp>
        <p:nvSpPr>
          <p:cNvPr id="16" name="Google Shape;403;p27">
            <a:extLst>
              <a:ext uri="{FF2B5EF4-FFF2-40B4-BE49-F238E27FC236}">
                <a16:creationId xmlns:a16="http://schemas.microsoft.com/office/drawing/2014/main" id="{1AC22EC4-F1E5-B731-A915-A2F246E406C7}"/>
              </a:ext>
            </a:extLst>
          </p:cNvPr>
          <p:cNvSpPr/>
          <p:nvPr/>
        </p:nvSpPr>
        <p:spPr>
          <a:xfrm>
            <a:off x="571500" y="833437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4EC8872-F447-2478-EDAF-6A3DF2031F7E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1000" y="1818602"/>
            <a:ext cx="5520110" cy="3497020"/>
          </a:xfrm>
          <a:prstGeom prst="rect">
            <a:avLst/>
          </a:prstGeom>
        </p:spPr>
      </p:pic>
      <p:pic>
        <p:nvPicPr>
          <p:cNvPr id="19" name="Google Shape;401;p27" descr="image.png">
            <a:extLst>
              <a:ext uri="{FF2B5EF4-FFF2-40B4-BE49-F238E27FC236}">
                <a16:creationId xmlns:a16="http://schemas.microsoft.com/office/drawing/2014/main" id="{FF6FC485-0B39-9FBD-D1EF-3638A977EA0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36667" y="5616760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344566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6161C5B-7923-2163-ECE7-44CAAD084BE2}"/>
              </a:ext>
            </a:extLst>
          </p:cNvPr>
          <p:cNvSpPr txBox="1"/>
          <p:nvPr/>
        </p:nvSpPr>
        <p:spPr>
          <a:xfrm>
            <a:off x="443910" y="93653"/>
            <a:ext cx="741355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0" i="0" dirty="0">
                <a:solidFill>
                  <a:srgbClr val="1E3A8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Software Testing</a:t>
            </a:r>
            <a:endParaRPr lang="en-BS" sz="4000" dirty="0">
              <a:solidFill>
                <a:srgbClr val="1E3A8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Google Shape;403;p27">
            <a:extLst>
              <a:ext uri="{FF2B5EF4-FFF2-40B4-BE49-F238E27FC236}">
                <a16:creationId xmlns:a16="http://schemas.microsoft.com/office/drawing/2014/main" id="{63B59766-7331-56C5-721E-110018251F99}"/>
              </a:ext>
            </a:extLst>
          </p:cNvPr>
          <p:cNvSpPr/>
          <p:nvPr/>
        </p:nvSpPr>
        <p:spPr>
          <a:xfrm>
            <a:off x="571500" y="833437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95B77F-0C12-577D-6679-66C1A0FB1C2C}"/>
              </a:ext>
            </a:extLst>
          </p:cNvPr>
          <p:cNvSpPr txBox="1"/>
          <p:nvPr/>
        </p:nvSpPr>
        <p:spPr>
          <a:xfrm>
            <a:off x="571500" y="1085649"/>
            <a:ext cx="71583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dirty="0">
                <a:solidFill>
                  <a:srgbClr val="334155"/>
                </a:solidFill>
                <a:effectLst/>
                <a:latin typeface="Inter"/>
              </a:rPr>
              <a:t>Ensuring stability, reliability, and security through rigorous QA phases.</a:t>
            </a:r>
            <a:endParaRPr lang="en-BS" sz="2000" dirty="0">
              <a:solidFill>
                <a:srgbClr val="334155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DFC3990-37E3-280E-F73D-E2841DA38086}"/>
              </a:ext>
            </a:extLst>
          </p:cNvPr>
          <p:cNvSpPr/>
          <p:nvPr/>
        </p:nvSpPr>
        <p:spPr>
          <a:xfrm>
            <a:off x="443910" y="4019107"/>
            <a:ext cx="3755950" cy="2838893"/>
          </a:xfrm>
          <a:prstGeom prst="rect">
            <a:avLst/>
          </a:prstGeom>
          <a:solidFill>
            <a:srgbClr val="456BD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19EE98-7C2E-61F5-DEA6-58D9E2C9E1AF}"/>
              </a:ext>
            </a:extLst>
          </p:cNvPr>
          <p:cNvSpPr/>
          <p:nvPr/>
        </p:nvSpPr>
        <p:spPr>
          <a:xfrm>
            <a:off x="4199860" y="2838894"/>
            <a:ext cx="3755950" cy="4019106"/>
          </a:xfrm>
          <a:prstGeom prst="rect">
            <a:avLst/>
          </a:prstGeom>
          <a:solidFill>
            <a:srgbClr val="2447A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86B3AF-3576-6A3E-9AAD-1396E8FE1B45}"/>
              </a:ext>
            </a:extLst>
          </p:cNvPr>
          <p:cNvSpPr/>
          <p:nvPr/>
        </p:nvSpPr>
        <p:spPr>
          <a:xfrm>
            <a:off x="7955810" y="1665989"/>
            <a:ext cx="3755950" cy="5192011"/>
          </a:xfrm>
          <a:prstGeom prst="rect">
            <a:avLst/>
          </a:prstGeom>
          <a:solidFill>
            <a:srgbClr val="1E3A8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A80D29-A8DB-2A59-6CA2-B0C9F6464E85}"/>
              </a:ext>
            </a:extLst>
          </p:cNvPr>
          <p:cNvSpPr txBox="1"/>
          <p:nvPr/>
        </p:nvSpPr>
        <p:spPr>
          <a:xfrm>
            <a:off x="785481" y="4348716"/>
            <a:ext cx="3072809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Unit Testing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Testing individual components like the </a:t>
            </a:r>
            <a:r>
              <a:rPr lang="en-US" b="1" dirty="0">
                <a:solidFill>
                  <a:schemeClr val="bg1"/>
                </a:solidFill>
              </a:rPr>
              <a:t>Shopping Cart logic, Size/Color Selectors</a:t>
            </a:r>
            <a:r>
              <a:rPr lang="en-US" dirty="0">
                <a:solidFill>
                  <a:schemeClr val="bg1"/>
                </a:solidFill>
              </a:rPr>
              <a:t>, and UI buttons for isolated errors.</a:t>
            </a:r>
            <a:endParaRPr lang="en-BS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F64665-DF4E-79FE-C83F-A093FFD74660}"/>
              </a:ext>
            </a:extLst>
          </p:cNvPr>
          <p:cNvSpPr txBox="1"/>
          <p:nvPr/>
        </p:nvSpPr>
        <p:spPr>
          <a:xfrm>
            <a:off x="4541430" y="3059668"/>
            <a:ext cx="307280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Integration Testing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Checking how different modules interact, specifically the </a:t>
            </a:r>
            <a:r>
              <a:rPr lang="en-US" b="1" dirty="0">
                <a:solidFill>
                  <a:schemeClr val="bg1"/>
                </a:solidFill>
              </a:rPr>
              <a:t>Frontend to Inventory Database</a:t>
            </a:r>
            <a:r>
              <a:rPr lang="en-US" dirty="0">
                <a:solidFill>
                  <a:schemeClr val="bg1"/>
                </a:solidFill>
              </a:rPr>
              <a:t> link and secure payment API connections.</a:t>
            </a:r>
            <a:endParaRPr lang="en-BS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2D79A73-A099-2563-443A-36D5E7A7F5DF}"/>
              </a:ext>
            </a:extLst>
          </p:cNvPr>
          <p:cNvSpPr txBox="1"/>
          <p:nvPr/>
        </p:nvSpPr>
        <p:spPr>
          <a:xfrm>
            <a:off x="8297380" y="1949301"/>
            <a:ext cx="3072809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System Testing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End-to-end testing of the complete flow to ensure the </a:t>
            </a:r>
            <a:r>
              <a:rPr lang="en-US" b="1" dirty="0">
                <a:solidFill>
                  <a:schemeClr val="bg1"/>
                </a:solidFill>
              </a:rPr>
              <a:t>product browsing to final checkout</a:t>
            </a:r>
            <a:r>
              <a:rPr lang="en-US" dirty="0">
                <a:solidFill>
                  <a:schemeClr val="bg1"/>
                </a:solidFill>
              </a:rPr>
              <a:t> process functions correctly across all devices.</a:t>
            </a:r>
            <a:endParaRPr lang="en-B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96366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F452501-5FAA-2D37-22FA-A3BA405360DE}"/>
              </a:ext>
            </a:extLst>
          </p:cNvPr>
          <p:cNvSpPr txBox="1"/>
          <p:nvPr/>
        </p:nvSpPr>
        <p:spPr>
          <a:xfrm>
            <a:off x="454540" y="125551"/>
            <a:ext cx="719026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1E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 &amp; Enhancements</a:t>
            </a:r>
            <a:endParaRPr lang="en-BS" sz="4000" dirty="0">
              <a:solidFill>
                <a:srgbClr val="1E3A8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Google Shape;403;p27">
            <a:extLst>
              <a:ext uri="{FF2B5EF4-FFF2-40B4-BE49-F238E27FC236}">
                <a16:creationId xmlns:a16="http://schemas.microsoft.com/office/drawing/2014/main" id="{E6D77146-B276-B2E7-3635-1EB9A5B1AB5D}"/>
              </a:ext>
            </a:extLst>
          </p:cNvPr>
          <p:cNvSpPr/>
          <p:nvPr/>
        </p:nvSpPr>
        <p:spPr>
          <a:xfrm>
            <a:off x="571500" y="833437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3E101D-67F2-B9D1-53CD-4A2C1E0DC98C}"/>
              </a:ext>
            </a:extLst>
          </p:cNvPr>
          <p:cNvSpPr txBox="1"/>
          <p:nvPr/>
        </p:nvSpPr>
        <p:spPr>
          <a:xfrm>
            <a:off x="571500" y="1053751"/>
            <a:ext cx="109435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334155"/>
                </a:solidFill>
              </a:rPr>
              <a:t>Expanding Thread Theory's horizon with intelligent sizing, immersive tech, and scalable features.</a:t>
            </a:r>
            <a:endParaRPr lang="en-BS" sz="2000" dirty="0">
              <a:solidFill>
                <a:srgbClr val="334155"/>
              </a:solidFill>
            </a:endParaRPr>
          </a:p>
        </p:txBody>
      </p:sp>
      <p:pic>
        <p:nvPicPr>
          <p:cNvPr id="12" name="Graphic 11" descr="Monitor with solid fill">
            <a:extLst>
              <a:ext uri="{FF2B5EF4-FFF2-40B4-BE49-F238E27FC236}">
                <a16:creationId xmlns:a16="http://schemas.microsoft.com/office/drawing/2014/main" id="{34BAAE17-2098-CEFA-3FF6-E93B788FCC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686" y="1920757"/>
            <a:ext cx="591879" cy="591879"/>
          </a:xfrm>
          <a:prstGeom prst="rect">
            <a:avLst/>
          </a:prstGeom>
        </p:spPr>
      </p:pic>
      <p:pic>
        <p:nvPicPr>
          <p:cNvPr id="14" name="Graphic 13" descr="Smart Phone with solid fill">
            <a:extLst>
              <a:ext uri="{FF2B5EF4-FFF2-40B4-BE49-F238E27FC236}">
                <a16:creationId xmlns:a16="http://schemas.microsoft.com/office/drawing/2014/main" id="{84D6A75E-323A-FD30-1516-5059201B70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6685" y="3133060"/>
            <a:ext cx="591879" cy="591879"/>
          </a:xfrm>
          <a:prstGeom prst="rect">
            <a:avLst/>
          </a:prstGeom>
        </p:spPr>
      </p:pic>
      <p:pic>
        <p:nvPicPr>
          <p:cNvPr id="16" name="Graphic 15" descr="Network with solid fill">
            <a:extLst>
              <a:ext uri="{FF2B5EF4-FFF2-40B4-BE49-F238E27FC236}">
                <a16:creationId xmlns:a16="http://schemas.microsoft.com/office/drawing/2014/main" id="{3998E1A5-D5B2-59BD-1E2B-B242793504A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6684" y="4345363"/>
            <a:ext cx="591879" cy="591879"/>
          </a:xfrm>
          <a:prstGeom prst="rect">
            <a:avLst/>
          </a:prstGeom>
        </p:spPr>
      </p:pic>
      <p:pic>
        <p:nvPicPr>
          <p:cNvPr id="18" name="Graphic 17" descr="Bank with solid fill">
            <a:extLst>
              <a:ext uri="{FF2B5EF4-FFF2-40B4-BE49-F238E27FC236}">
                <a16:creationId xmlns:a16="http://schemas.microsoft.com/office/drawing/2014/main" id="{87390BFD-D241-2D76-4866-834E255E658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6683" y="5557666"/>
            <a:ext cx="591879" cy="59187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6FEF33B-5054-2272-A5FC-20EFCA574B91}"/>
              </a:ext>
            </a:extLst>
          </p:cNvPr>
          <p:cNvSpPr txBox="1"/>
          <p:nvPr/>
        </p:nvSpPr>
        <p:spPr>
          <a:xfrm>
            <a:off x="1762347" y="1893530"/>
            <a:ext cx="939120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334155"/>
                </a:solidFill>
              </a:rPr>
              <a:t>Implementation of </a:t>
            </a:r>
            <a:r>
              <a:rPr lang="en-US" sz="2000" b="1" dirty="0">
                <a:solidFill>
                  <a:srgbClr val="334155"/>
                </a:solidFill>
              </a:rPr>
              <a:t>AI-driven size recommendations</a:t>
            </a:r>
            <a:r>
              <a:rPr lang="en-US" sz="2000" dirty="0">
                <a:solidFill>
                  <a:srgbClr val="334155"/>
                </a:solidFill>
              </a:rPr>
              <a:t> using machine learning to analyze user measurements and reduce clothing return rates.</a:t>
            </a:r>
            <a:endParaRPr lang="en-BS" sz="2000" dirty="0">
              <a:solidFill>
                <a:srgbClr val="334155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90A5820-611F-7BA6-9D16-C8810AD592D2}"/>
              </a:ext>
            </a:extLst>
          </p:cNvPr>
          <p:cNvSpPr txBox="1"/>
          <p:nvPr/>
        </p:nvSpPr>
        <p:spPr>
          <a:xfrm>
            <a:off x="1762347" y="3075056"/>
            <a:ext cx="939120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334155"/>
                </a:solidFill>
              </a:rPr>
              <a:t>Development of a </a:t>
            </a:r>
            <a:r>
              <a:rPr lang="en-US" sz="2000" b="1" dirty="0">
                <a:solidFill>
                  <a:srgbClr val="334155"/>
                </a:solidFill>
              </a:rPr>
              <a:t>Virtual Try-On feature</a:t>
            </a:r>
            <a:r>
              <a:rPr lang="en-US" sz="2000" dirty="0">
                <a:solidFill>
                  <a:srgbClr val="334155"/>
                </a:solidFill>
              </a:rPr>
              <a:t> leveraging AR (Augmented Reality) so customers can see how garments fit using their device's camera.</a:t>
            </a:r>
            <a:endParaRPr lang="en-BS" sz="2000" dirty="0">
              <a:solidFill>
                <a:srgbClr val="334155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D4DDFC5-73E1-1CDD-55F0-259058ECDC7E}"/>
              </a:ext>
            </a:extLst>
          </p:cNvPr>
          <p:cNvSpPr txBox="1"/>
          <p:nvPr/>
        </p:nvSpPr>
        <p:spPr>
          <a:xfrm>
            <a:off x="1762347" y="4287359"/>
            <a:ext cx="939120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334155"/>
                </a:solidFill>
              </a:rPr>
              <a:t>Deep integration with </a:t>
            </a:r>
            <a:r>
              <a:rPr lang="en-US" sz="2000" b="1" dirty="0">
                <a:solidFill>
                  <a:srgbClr val="334155"/>
                </a:solidFill>
              </a:rPr>
              <a:t>Social Commerce</a:t>
            </a:r>
            <a:r>
              <a:rPr lang="en-US" sz="2000" dirty="0">
                <a:solidFill>
                  <a:srgbClr val="334155"/>
                </a:solidFill>
              </a:rPr>
              <a:t>, allowing users to share custom "Thread Theory" outfit lookbooks directly to platforms like Instagram or Pinterest.</a:t>
            </a:r>
            <a:endParaRPr lang="en-BS" sz="2000" dirty="0">
              <a:solidFill>
                <a:srgbClr val="334155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552A64D-9F26-E872-F1C0-F09F6E1E06EC}"/>
              </a:ext>
            </a:extLst>
          </p:cNvPr>
          <p:cNvSpPr txBox="1"/>
          <p:nvPr/>
        </p:nvSpPr>
        <p:spPr>
          <a:xfrm>
            <a:off x="1762346" y="5499662"/>
            <a:ext cx="939120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334155"/>
                </a:solidFill>
              </a:rPr>
              <a:t>Expansion into a </a:t>
            </a:r>
            <a:r>
              <a:rPr lang="en-US" sz="2000" b="1" dirty="0">
                <a:solidFill>
                  <a:srgbClr val="334155"/>
                </a:solidFill>
              </a:rPr>
              <a:t>Multi-vendor Marketplace ecosystem</a:t>
            </a:r>
            <a:r>
              <a:rPr lang="en-US" sz="2000" dirty="0">
                <a:solidFill>
                  <a:srgbClr val="334155"/>
                </a:solidFill>
              </a:rPr>
              <a:t>, allowing independent fashion designers and boutique brands to sell on the platform.</a:t>
            </a:r>
            <a:endParaRPr lang="en-BS" sz="2000" dirty="0">
              <a:solidFill>
                <a:srgbClr val="3341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80332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1DC08FD-211F-9F70-5744-178D6B36C6B9}"/>
              </a:ext>
            </a:extLst>
          </p:cNvPr>
          <p:cNvSpPr txBox="1"/>
          <p:nvPr/>
        </p:nvSpPr>
        <p:spPr>
          <a:xfrm>
            <a:off x="518337" y="341646"/>
            <a:ext cx="60977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2447A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BS" sz="4000" dirty="0">
              <a:solidFill>
                <a:srgbClr val="2447A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Google Shape;403;p27">
            <a:extLst>
              <a:ext uri="{FF2B5EF4-FFF2-40B4-BE49-F238E27FC236}">
                <a16:creationId xmlns:a16="http://schemas.microsoft.com/office/drawing/2014/main" id="{6D404780-C97E-1190-A849-70A1F16BEB1E}"/>
              </a:ext>
            </a:extLst>
          </p:cNvPr>
          <p:cNvSpPr/>
          <p:nvPr/>
        </p:nvSpPr>
        <p:spPr>
          <a:xfrm>
            <a:off x="518337" y="1020957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D2D456-01CE-438B-E2C5-5194489C37EC}"/>
              </a:ext>
            </a:extLst>
          </p:cNvPr>
          <p:cNvSpPr txBox="1"/>
          <p:nvPr/>
        </p:nvSpPr>
        <p:spPr>
          <a:xfrm>
            <a:off x="518337" y="1647517"/>
            <a:ext cx="11048999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solidFill>
                  <a:srgbClr val="334155"/>
                </a:solidFill>
              </a:rPr>
              <a:t>"In conclusion, </a:t>
            </a:r>
            <a:r>
              <a:rPr lang="en-US" sz="2800" b="1" dirty="0">
                <a:solidFill>
                  <a:srgbClr val="334155"/>
                </a:solidFill>
              </a:rPr>
              <a:t>Thread Theory</a:t>
            </a:r>
            <a:r>
              <a:rPr lang="en-US" sz="2800" dirty="0">
                <a:solidFill>
                  <a:srgbClr val="334155"/>
                </a:solidFill>
              </a:rPr>
              <a:t> successfully demonstrates the integration of modern web technologies to create a premium clothing e-commerce experience. By utilizing a robust React.js frontend and secure backend architecture, the project delivers a seamless, responsive, and user-centric shopping platform. It not only meets current digital retail standards but also establishes a highly scalable foundation ready to embrace future innovations like AI and AR in fashion tech."</a:t>
            </a:r>
          </a:p>
        </p:txBody>
      </p:sp>
    </p:spTree>
    <p:extLst>
      <p:ext uri="{BB962C8B-B14F-4D97-AF65-F5344CB8AC3E}">
        <p14:creationId xmlns:p14="http://schemas.microsoft.com/office/powerpoint/2010/main" val="14662629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08;p34">
            <a:extLst>
              <a:ext uri="{FF2B5EF4-FFF2-40B4-BE49-F238E27FC236}">
                <a16:creationId xmlns:a16="http://schemas.microsoft.com/office/drawing/2014/main" id="{B5428454-E7DC-F0C9-CC57-28C98B0029B8}"/>
              </a:ext>
            </a:extLst>
          </p:cNvPr>
          <p:cNvSpPr txBox="1"/>
          <p:nvPr/>
        </p:nvSpPr>
        <p:spPr>
          <a:xfrm>
            <a:off x="295275" y="1809750"/>
            <a:ext cx="1160145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Questions?</a:t>
            </a:r>
            <a:endParaRPr dirty="0"/>
          </a:p>
        </p:txBody>
      </p:sp>
      <p:sp>
        <p:nvSpPr>
          <p:cNvPr id="5" name="Google Shape;509;p34">
            <a:extLst>
              <a:ext uri="{FF2B5EF4-FFF2-40B4-BE49-F238E27FC236}">
                <a16:creationId xmlns:a16="http://schemas.microsoft.com/office/drawing/2014/main" id="{EEC5E4BD-B0CF-9C18-61CA-AE6C7BD4DBC7}"/>
              </a:ext>
            </a:extLst>
          </p:cNvPr>
          <p:cNvSpPr txBox="1"/>
          <p:nvPr/>
        </p:nvSpPr>
        <p:spPr>
          <a:xfrm>
            <a:off x="571500" y="3028950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Thank you for your attention.</a:t>
            </a:r>
            <a:endParaRPr/>
          </a:p>
        </p:txBody>
      </p:sp>
      <p:sp>
        <p:nvSpPr>
          <p:cNvPr id="6" name="Google Shape;510;p34">
            <a:extLst>
              <a:ext uri="{FF2B5EF4-FFF2-40B4-BE49-F238E27FC236}">
                <a16:creationId xmlns:a16="http://schemas.microsoft.com/office/drawing/2014/main" id="{27B31F55-6A06-FA95-F25E-1411C0F8D687}"/>
              </a:ext>
            </a:extLst>
          </p:cNvPr>
          <p:cNvSpPr txBox="1"/>
          <p:nvPr/>
        </p:nvSpPr>
        <p:spPr>
          <a:xfrm>
            <a:off x="571499" y="4000500"/>
            <a:ext cx="1143562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fenil.bhingradia@sdjic.edu | ronak.savsani@sdjic.edu | nand.avaiya@sdjic.edu</a:t>
            </a:r>
            <a:endParaRPr sz="1600" dirty="0"/>
          </a:p>
        </p:txBody>
      </p:sp>
      <p:pic>
        <p:nvPicPr>
          <p:cNvPr id="9" name="Google Shape;513;p34" descr="image.png">
            <a:extLst>
              <a:ext uri="{FF2B5EF4-FFF2-40B4-BE49-F238E27FC236}">
                <a16:creationId xmlns:a16="http://schemas.microsoft.com/office/drawing/2014/main" id="{6AD815EC-63F5-1439-CF94-931435D1940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80596" y="4060348"/>
            <a:ext cx="272467" cy="2795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962972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1478</Words>
  <Application>Microsoft Office PowerPoint</Application>
  <PresentationFormat>Widescreen</PresentationFormat>
  <Paragraphs>159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Arial</vt:lpstr>
      <vt:lpstr>Calibri</vt:lpstr>
      <vt:lpstr>Calibri Light</vt:lpstr>
      <vt:lpstr>Calibri Light (Headings)</vt:lpstr>
      <vt:lpstr>DM Sans Semi Bold</vt:lpstr>
      <vt:lpstr>Inter</vt:lpstr>
      <vt:lpstr>Inter Medium</vt:lpstr>
      <vt:lpstr>Lexend</vt:lpstr>
      <vt:lpstr>Times New Roman</vt:lpstr>
      <vt:lpstr>Office Theme</vt:lpstr>
      <vt:lpstr>PowerPoint Presentation</vt:lpstr>
      <vt:lpstr>What is Thread Theory?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Ronak_ Savsani</dc:creator>
  <cp:lastModifiedBy>Ronak_ Savsani</cp:lastModifiedBy>
  <cp:revision>4</cp:revision>
  <dcterms:created xsi:type="dcterms:W3CDTF">2026-03-30T18:04:17Z</dcterms:created>
  <dcterms:modified xsi:type="dcterms:W3CDTF">2026-03-31T05:19:54Z</dcterms:modified>
</cp:coreProperties>
</file>